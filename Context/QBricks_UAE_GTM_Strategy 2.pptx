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70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AED 370m fines figure — fine-avoidance is the strongest currency with a GCC bank board. Quantexa's DIFC presence is our warm-partner credibility. The MIT 95% stat frames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87" y="764438"/>
            <a:ext cx="3108960" cy="14014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UAE GO-TO-MARKET STRATEGY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58368" y="2761488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Capturing the GCC banking</a:t>
            </a:r>
            <a:endParaRPr lang="en-US" sz="30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opportunity with a governed</a:t>
            </a:r>
            <a:endParaRPr lang="en-US" sz="30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metadata platform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4745736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connection-led, collateral-light route to market — built on Aspiro / ATS5E relationships and the QBricks cost, trust and AI-enablement story.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8368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  ·  Q3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play, on one page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3957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3591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28163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GCC banks are spending heavily to make AI work and stay ahead of an aggressive financial-crime regulator — yet most AI fails on poor data. QBricks fixes the layer underneath.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55080" y="210312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3957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3591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wedge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269480" y="28163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Local, Spark-free processing strips the runaway compute cost out of data engineering — the hook that opens the door, with governance and trust as the reasons it sticks.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25196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54456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5079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route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9651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ad budget needed. Warm executive intros through William's Aspiro / ATS5E network, a tight collateral kit, and paid proof-of-value pilots that convert.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355080" y="425196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54456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69480" y="45079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ask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269480" y="49651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 off the priority collateral, agree the first-wave target list and POC offer, and we run a 90-day push to a first signed pilot and reference.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 CONTEXT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the UAE, why now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AED 370m+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CBUAE financial-crime fines levied in 2025 alone — enforcement is now aggressive and personal.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205740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&gt;25%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800600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 the world's 50 largest banks already run Quantexa; its Decision Intelligence hub sits in the DIFC.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49640" y="205740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2396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95%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823960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 AI use cases fail — overwhelmingly due to poor data quality and missing metadata (MIT, 2025).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4160520"/>
            <a:ext cx="1120140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forces are converging in the Gulf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Regulatory pressure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724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CBUAE, ADGM and DFSA are penalising AML / KYC and data-control failures. Auditable, governed data is now a board-level survival issue.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8912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&amp; data monetisation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38912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National AI ambition and a race to monetise data are pushing banks onto Databricks, Fabric and Snowflake — fast, and often ungoverned.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0100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lakehouse hangover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0100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Migration without metadata creates data swamps: ungoverned notebooks, lost lineage, spiralling compute. The pain QBricks is built for.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SELL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governed metadata layer that de-costs the lakehouse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5577840" cy="3886200"/>
          </a:xfrm>
          <a:prstGeom prst="roundRect">
            <a:avLst>
              <a:gd name="adj" fmla="val 1647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in one line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AI-enabled platform that connects to the data banks already hold, builds governed, quality-checked data products against open Data Contracts — and does the heavy processing locally, without Spark.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Position as an ALLY, not a replacement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4526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“Your Databricks / Fabric / Snowflake investment finally pays off — at a fraction of the compute cost.”  </a:t>
            </a: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Never 'rip and replace'.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55080" y="20574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DEFENSIBLE PROOF POINTS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55080" y="2468880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0" y="250545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183880" y="250545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fewer data issues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355080" y="3191256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83680" y="322783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83880" y="322783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deploy, not weeks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355080" y="3913632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83680" y="39502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~70%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183880" y="395020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 compute cost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355080" y="4636008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83680" y="467258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183880" y="467258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matching, via Quantexa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355080" y="5358384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83680" y="53949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183880" y="539496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auditable, end to end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RIGHT TO WIN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advantages competitors can't easily copy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395728"/>
            <a:ext cx="658368" cy="658368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5420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4140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 compute = millions saved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3017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Spark-free processing — 5m records in ~1 minute on a laptop. The cost story lands with the CFO and is hard to match.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55080" y="210312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629400" y="2395728"/>
            <a:ext cx="658368" cy="658368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25420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24140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Embedded Quantexa trust score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452360" y="3017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99% matching accuracy baked into data products. A partnership advantage rivals can't replicate — and Quantexa is already in the DIFC.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2920" y="425196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77240" y="4544568"/>
            <a:ext cx="658368" cy="658368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69087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5628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 standard, no lock-in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00200" y="5166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on ODCS (Linux Foundation). Banks own their contracts — disarms the 'another proprietary silo' objection.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355080" y="425196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629400" y="4544568"/>
            <a:ext cx="658368" cy="658368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4" y="469087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52360" y="45628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Trusted local partner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452360" y="5166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Aspiro / ATS5E's UAE presence and William's relationships mean warm executive access — not cold outreach into a closed market.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WE OPERATE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entities, one go-to-market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611880" cy="2743200"/>
          </a:xfrm>
          <a:prstGeom prst="roundRect">
            <a:avLst>
              <a:gd name="adj" fmla="val 233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313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INFINIUM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715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NextWave Infinium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Owns the product &amp; IP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3611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Builds and evolves QBricks. Provides product, roadmap and deep technical support behind the partner.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26280" y="2057400"/>
            <a:ext cx="3611880" cy="2743200"/>
          </a:xfrm>
          <a:prstGeom prst="roundRect">
            <a:avLst>
              <a:gd name="adj" fmla="val 233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2313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ASPIRO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00600" y="2715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Aspiro Management Consultants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0060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Owns the client relationship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00600" y="3611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Wins and holds the banking relationship in-region. The trusted advisor in the room — William's network is the front door.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549640" y="2057400"/>
            <a:ext cx="3611880" cy="2743200"/>
          </a:xfrm>
          <a:prstGeom prst="roundRect">
            <a:avLst>
              <a:gd name="adj" fmla="val 233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823960" y="2313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ATS5E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823960" y="2715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ATS5E (separate entity)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2396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Technology &amp; delivery partner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823960" y="3611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Delivers software, build and deployment alongside the client. The execution muscle that makes pilots succeed.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5029200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1E1E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7240" y="5138928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Commercial model:  </a:t>
            </a: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Aspiro / ATS5E operate under a share-of-sales agreement with Infinium — incentivised purely on the revenue we generate. Aspiro and ATS5E are separate legal entities; Aspiro owns the relationship, ATS5E delivers the build.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WE SELL TO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product, three buyers — sold at once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3611880" cy="2468880"/>
          </a:xfrm>
          <a:prstGeom prst="roundRect">
            <a:avLst>
              <a:gd name="adj" fmla="val 259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377440"/>
            <a:ext cx="731520" cy="731520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254203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4140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645920" y="26700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CFO / COO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77240" y="3337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“Stop overpaying for compute to clean your own data.” ~70% lower cost; pilots are cheap to run.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26280" y="2103120"/>
            <a:ext cx="3611880" cy="2468880"/>
          </a:xfrm>
          <a:prstGeom prst="roundRect">
            <a:avLst>
              <a:gd name="adj" fmla="val 259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00600" y="2377440"/>
            <a:ext cx="731520" cy="731520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25420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24140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REGULATORY &amp; TRUST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669280" y="26700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CRO &amp; Head of Compliance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800600" y="3337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“Prove every number to the regulator.” Full lineage and auditability — fine-avoidance under CBUAE scrutiny.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549640" y="2103120"/>
            <a:ext cx="3611880" cy="2468880"/>
          </a:xfrm>
          <a:prstGeom prst="roundRect">
            <a:avLst>
              <a:gd name="adj" fmla="val 259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823960" y="2377440"/>
            <a:ext cx="731520" cy="731520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54203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92640" y="24140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ENABLEMENT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692640" y="26700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CDO / Chief Data Officer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823960" y="3337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“Stop your AI projects failing on bad data.” Governed, trusted data products that make AI actually ship.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4892040"/>
            <a:ext cx="11201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champions &amp; entry points:  Heads of Data Governance / Data Quality, and Financial Crime / AML / KYC leadership — where governed metadata converts directly into regulatory and commercial value.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MARKET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Segmenting the UAE banking market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11201400" cy="1207008"/>
          </a:xfrm>
          <a:prstGeom prst="roundRect">
            <a:avLst>
              <a:gd name="adj" fmla="val 530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 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National champions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68880" y="23042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FAB · Emirates NBD · ADCB · Dubai Islamic · Mashreq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230428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Largest estates, heaviest Databricks/Fabric spend, most regulatory exposure. Highest value — longer cycle. Lead with cost + audit.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3474720"/>
            <a:ext cx="11201400" cy="1207008"/>
          </a:xfrm>
          <a:prstGeom prst="roundRect">
            <a:avLst>
              <a:gd name="adj" fmla="val 530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 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724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Mid-size &amp; Islamic banks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468880" y="36758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ADIB · Emirates Islamic · CBD · RAKBANK · NBF · Sharjah Islamic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367588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Leaner data teams, acute compute-cost pain, faster decisions. The sweet spot for a quick first reference win.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846320"/>
            <a:ext cx="11201400" cy="1207008"/>
          </a:xfrm>
          <a:prstGeom prst="roundRect">
            <a:avLst>
              <a:gd name="adj" fmla="val 5303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 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7240" y="5449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International branches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468880" y="50474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HSBC · Standard Chartered · Citi (UAE / DIFC)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269480" y="504748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Global Quantexa &amp; Databricks footprints; local AML obligations. Warm where group already knows Quantexa.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594360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Qualifying signals: on or migrating to Databricks / Fabric / Snowflake · existing Quantexa user · active AML / KYC remediation · public AI ambition.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FIRST-WAVE HIT-LIST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point the first 90 days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201400" cy="38039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14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14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Why them now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14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Entry buyer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14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First Abu Dhabi Bank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Largest estate &amp; compute spend; deep AI agenda; flagship reference value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CDO / CRO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Emirates NBD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Scale + active data-platform modernisation; high AML exposure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ADCB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Data-driven strategy; strong fit for cost + governance story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Head of Data Gov.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Dubai Islamic Bank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Largest Islamic bank; lean governance vs. growing AI ambition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CRO / Compliance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Mashreq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Digital-first, fast mover; ideal for a quick proof-of-value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CDO / Head of Data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ADIB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Acute compute-cost pain; decisive; strong first-reference candidate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HSBC / SCB (UAE)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Group-level Quantexa &amp; Databricks; warm via partnership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FC / AML lead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Indicative, partner-built list — to be confirmed and re-ordered against William's live relationships. Named contacts mapped in a separate working tracker.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POSITIONING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category claim &amp; message map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201400" cy="1051560"/>
          </a:xfrm>
          <a:prstGeom prst="roundRect">
            <a:avLst>
              <a:gd name="adj" fmla="val 6087"/>
            </a:avLst>
          </a:prstGeom>
          <a:solidFill>
            <a:srgbClr val="1E1E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OWN THE CATEGORY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468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“The governed metadata layer that de-costs the lakehouse and makes AI safe to ship.”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02920" y="333756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the CFO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4023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“Your lakehouse bill collapses to storage and serving. You don't rip anything out — you stop overpaying for it.”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26280" y="333756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the CRO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00600" y="4023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“Every transformation logged, every number provable. Walk into a CBUAE review with your lineage in hand.”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49640" y="333756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82396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the CDO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23960" y="4023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“The 95% of AI that fails, fails on data. QBricks is the trusted foundation that makes your AI roadmap real.”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534924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Golden rule:  lead with the outcome (cost · audit · AI), substantiate with capability. Keep every claim to the stated, defensible proof points.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SALES MOTION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 small, prove fast, expand wide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2670048" cy="2743200"/>
          </a:xfrm>
          <a:prstGeom prst="roundRect">
            <a:avLst>
              <a:gd name="adj" fmla="val 2397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53896" y="2560320"/>
            <a:ext cx="768096" cy="768096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273405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34564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376732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painful use case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31520" y="4114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Enter on a single high-value problem — an AML / KYC data product, or a free Observatory data-quality audit that exposes the swamp.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2852928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37560" y="2286000"/>
            <a:ext cx="2670048" cy="2743200"/>
          </a:xfrm>
          <a:prstGeom prst="roundRect">
            <a:avLst>
              <a:gd name="adj" fmla="val 2397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288536" y="2560320"/>
            <a:ext cx="768096" cy="768096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273405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20440" y="34564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520440" y="376732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 in weeks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566160" y="4114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scoped, paid proof-of-value on the bank's own infrastructure. Show governed data products in minutes — not months.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852928"/>
            <a:ext cx="201168" cy="20116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172200" y="2286000"/>
            <a:ext cx="2670048" cy="2743200"/>
          </a:xfrm>
          <a:prstGeom prst="roundRect">
            <a:avLst>
              <a:gd name="adj" fmla="val 2397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7123176" y="2560320"/>
            <a:ext cx="768096" cy="768096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912" y="2734056"/>
            <a:ext cx="420624" cy="42062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55080" y="34564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EXPAND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355080" y="376732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Across the estate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400800" y="4114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 from one domain to the whole data estate as trust builds. Each contract makes the next one faster.</a:t>
            </a:r>
            <a:endParaRPr lang="en-US" sz="10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852928"/>
            <a:ext cx="201168" cy="20116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006840" y="2286000"/>
            <a:ext cx="2670048" cy="2743200"/>
          </a:xfrm>
          <a:prstGeom prst="roundRect">
            <a:avLst>
              <a:gd name="adj" fmla="val 2397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1"/>
          <p:cNvSpPr/>
          <p:nvPr/>
        </p:nvSpPr>
        <p:spPr>
          <a:xfrm>
            <a:off x="9957816" y="2560320"/>
            <a:ext cx="768096" cy="768096"/>
          </a:xfrm>
          <a:prstGeom prst="ellipse">
            <a:avLst/>
          </a:prstGeom>
          <a:solidFill>
            <a:srgbClr val="1E1E22"/>
          </a:solidFill>
          <a:ln w="12700">
            <a:solidFill>
              <a:srgbClr val="E82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1552" y="2734056"/>
            <a:ext cx="420624" cy="42062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189720" y="34564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ANCHOR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9189720" y="376732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 &amp; advocacy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9235440" y="4114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Convert the first win into a regional reference — the asset that unlocks every Tier-1 conversation.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502920" y="53492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Low-risk for the buyer, low-cost for us — the POC is the marketing.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LOW-BUDGET ENGINE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connection-led engine, not a campaign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3232" y="2286000"/>
            <a:ext cx="502920" cy="502920"/>
          </a:xfrm>
          <a:prstGeom prst="ellipse">
            <a:avLst/>
          </a:prstGeom>
          <a:solidFill>
            <a:srgbClr val="E82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2311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Warm intro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417320" y="253288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William / Aspiro relationship opens the door to the right executive. No cold outreach.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090672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13232" y="3273552"/>
            <a:ext cx="502920" cy="502920"/>
          </a:xfrm>
          <a:prstGeom prst="ellipse">
            <a:avLst/>
          </a:prstGeom>
          <a:solidFill>
            <a:srgbClr val="E82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17320" y="32186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Executive briefing + demo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417320" y="35204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20-minute QBricks story tailored to the buyer, anchored on the 8-minute product walkthrough.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4078224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13232" y="4261104"/>
            <a:ext cx="502920" cy="502920"/>
          </a:xfrm>
          <a:prstGeom prst="ellipse">
            <a:avLst/>
          </a:prstGeom>
          <a:solidFill>
            <a:srgbClr val="E82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17320" y="4206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Paid proof-of-value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417320" y="450799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Scoped pilot on their data. Small fee, big signal — qualifies intent and funds itself.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5065776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3232" y="5248656"/>
            <a:ext cx="502920" cy="502920"/>
          </a:xfrm>
          <a:prstGeom prst="ellipse">
            <a:avLst/>
          </a:prstGeom>
          <a:solidFill>
            <a:srgbClr val="E82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13232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417320" y="51937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 &amp; expand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417320" y="549554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Convert pilot to deployment; grow across the estate under the share-of-sales model.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406640" y="2103120"/>
            <a:ext cx="4297680" cy="3675888"/>
          </a:xfrm>
          <a:prstGeom prst="roundRect">
            <a:avLst>
              <a:gd name="adj" fmla="val 1741"/>
            </a:avLst>
          </a:prstGeom>
          <a:solidFill>
            <a:srgbClr val="1E1E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68096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SPEND DISCIPLINE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68096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C08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INVEST IN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818120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tight, reusable collateral kit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81812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Targeted 1:1 executive briefings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1812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Paid POCs that fund themselves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81812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 &amp; case-study capture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68096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53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AVOID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818120" y="4581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Paid media &amp; advertising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818120" y="4882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Sponsored conferences / booths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818120" y="5184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Broad, untargeted campaigns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8181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Bespoke decks for every meeting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PRIORITY — SALES COLLATERAL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minimum kit that closes deals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201400" cy="37033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14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Purpose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14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14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One-pager &amp; brochure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Leave-behind / first touch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C08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✓ HAVE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Pitch &amp; sales deck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Executive briefing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C08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✓ HAVE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8-min product walkthrough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Demo / proof of capability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C08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✓ HAVE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Competitive battlecard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Win vs. Collibra / Purview / native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BUILD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ROI / cost-saving calculator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Make the 70% saving concrete per bank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BUILD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AML &amp; KYC use-case briefs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Speak the buyer's regulatory language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BUILD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Outreach &amp; LinkedIn sequences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 warm intros to meetings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BUILD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POC scope &amp; offer template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4B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Turn interest into a paid pilot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2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BUILD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9893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Five lean, reusable assets to build — no design agency required. This is where the limited budget goes.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GROUND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we beat the alternatives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Collibra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7249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Their limit:  </a:t>
            </a: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Catalogue only — no compute, no data quality engine.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win:  </a:t>
            </a: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govern AND process locally, and cost a fraction.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210312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29400" y="2304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Microsoft Purview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29400" y="27249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Their limit:  </a:t>
            </a: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Governance bolt-on; deepens lock-in, doesn't cut compute.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29400" y="32735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win:  </a:t>
            </a: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Cloud-agnostic, open ODCS, and slashes the compute bill.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425196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4453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Native Databricks / Fabric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7240" y="48737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Their limit:  </a:t>
            </a: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tooling that creates the swamp — needs heavy engineering.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54223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win:  </a:t>
            </a: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Single-file deploy, no Spark, governed by default.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55080" y="425196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29400" y="4453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Consultancy 'data fabric'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29400" y="48737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Their limit:  </a:t>
            </a:r>
            <a:r>
              <a:rPr lang="en-US" sz="11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Bodies and time; throws money at the problem.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629400" y="54223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win:  </a:t>
            </a: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Product, not project — value in hours, not quarters.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qbrick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"/>
            <a:ext cx="6491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03117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QBricks · NextWave Infinium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7E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1133856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first 90 days — and the ask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06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Ready the engine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Finalise priority collateral · lock the first-wave list against William's relationships · map named contacts.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37560" y="205740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66160" y="2286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WEEKS 3–8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66160" y="2606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 doors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566160" y="3291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Warm intros into 6–8 Tier 1/2 banks · deliver executive briefings + demos · qualify intent.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205740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2286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WEEKS 6–12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2606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Prove value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00800" y="3291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 up 2–3 paid proof-of-value pilots on bank infrastructure · capture results live.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006840" y="205740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151517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235440" y="2286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QUARTER END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235440" y="2606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 &amp; anchor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235440" y="3291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Convert first pilot to a signed deployment · secure a regional reference.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4617720"/>
            <a:ext cx="11201400" cy="128016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772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ASK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7240" y="5074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 </a:t>
            </a:r>
            <a:r>
              <a:rPr lang="en-US" sz="12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 off the five priority collateral assets.    </a:t>
            </a:r>
            <a:r>
              <a:rPr lang="en-US" sz="12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 </a:t>
            </a:r>
            <a:r>
              <a:rPr lang="en-US" sz="12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 William's first-wave intro list.    </a:t>
            </a:r>
            <a:r>
              <a:rPr lang="en-US" sz="12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 </a:t>
            </a:r>
            <a:r>
              <a:rPr lang="en-US" sz="1250" dirty="0">
                <a:solidFill>
                  <a:srgbClr val="B4B4B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Agree the paid-POC offer &amp; pricing.    </a:t>
            </a:r>
            <a:r>
              <a:rPr lang="en-US" sz="1250" b="1" dirty="0">
                <a:solidFill>
                  <a:srgbClr val="E82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 </a:t>
            </a: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Target: first signed pilot + reference inside one quarter.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2044</Words>
  <Application>Microsoft Macintosh PowerPoint</Application>
  <PresentationFormat>Widescreen</PresentationFormat>
  <Paragraphs>304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QBricks UAE Go-to-Market Strategy</dc:title>
  <dc:subject>PptxGenJS Presentation</dc:subject>
  <dc:creator>Infinium / Aspiro / ATS5E</dc:creator>
  <cp:lastModifiedBy>Jack Donaldson</cp:lastModifiedBy>
  <cp:revision>2</cp:revision>
  <dcterms:created xsi:type="dcterms:W3CDTF">2026-06-25T16:05:50Z</dcterms:created>
  <dcterms:modified xsi:type="dcterms:W3CDTF">2026-06-25T16:11:39Z</dcterms:modified>
</cp:coreProperties>
</file>