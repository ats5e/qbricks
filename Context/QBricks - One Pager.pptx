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Canva Sans" charset="1" panose="020B0503030501040103"/>
      <p:regular r:id="rId7"/>
    </p:embeddedFont>
    <p:embeddedFont>
      <p:font typeface="Canva Sans Bold" charset="1" panose="020B0803030501040103"/>
      <p:regular r:id="rId8"/>
    </p:embeddedFont>
    <p:embeddedFont>
      <p:font typeface="Montserrat Bold" charset="1" panose="00000800000000000000"/>
      <p:regular r:id="rId9"/>
    </p:embeddedFont>
    <p:embeddedFont>
      <p:font typeface="Quicksand Bold" charset="1" panose="00000000000000000000"/>
      <p:regular r:id="rId10"/>
    </p:embeddedFont>
    <p:embeddedFont>
      <p:font typeface="Quicksand" charset="1" panose="00000000000000000000"/>
      <p:regular r:id="rId11"/>
    </p:embeddedFont>
    <p:embeddedFont>
      <p:font typeface="Montserrat" charset="1" panose="00000500000000000000"/>
      <p:regular r:id="rId12"/>
    </p:embeddedFont>
    <p:embeddedFont>
      <p:font typeface="Aptos" charset="1" panose="020B0004020202020204"/>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png" Type="http://schemas.openxmlformats.org/officeDocument/2006/relationships/image"/><Relationship Id="rId22" Target="../media/image21.png" Type="http://schemas.openxmlformats.org/officeDocument/2006/relationships/image"/><Relationship Id="rId23" Target="../media/image22.png" Type="http://schemas.openxmlformats.org/officeDocument/2006/relationships/image"/><Relationship Id="rId24" Target="../media/image23.svg" Type="http://schemas.openxmlformats.org/officeDocument/2006/relationships/image"/><Relationship Id="rId25" Target="../media/image24.png" Type="http://schemas.openxmlformats.org/officeDocument/2006/relationships/image"/><Relationship Id="rId26" Target="../media/image25.svg" Type="http://schemas.openxmlformats.org/officeDocument/2006/relationships/image"/><Relationship Id="rId27" Target="../media/image26.png" Type="http://schemas.openxmlformats.org/officeDocument/2006/relationships/image"/><Relationship Id="rId28" Target="../media/image27.svg" Type="http://schemas.openxmlformats.org/officeDocument/2006/relationships/image"/><Relationship Id="rId29" Target="../media/image28.png" Type="http://schemas.openxmlformats.org/officeDocument/2006/relationships/image"/><Relationship Id="rId3" Target="../media/image2.png" Type="http://schemas.openxmlformats.org/officeDocument/2006/relationships/image"/><Relationship Id="rId30" Target="../media/image29.svg" Type="http://schemas.openxmlformats.org/officeDocument/2006/relationships/image"/><Relationship Id="rId31" Target="../media/image30.png" Type="http://schemas.openxmlformats.org/officeDocument/2006/relationships/image"/><Relationship Id="rId32" Target="../media/image31.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3243" y="153243"/>
            <a:ext cx="7233862" cy="2420049"/>
            <a:chOff x="0" y="0"/>
            <a:chExt cx="2592453" cy="867291"/>
          </a:xfrm>
        </p:grpSpPr>
        <p:sp>
          <p:nvSpPr>
            <p:cNvPr name="Freeform 3" id="3"/>
            <p:cNvSpPr/>
            <p:nvPr/>
          </p:nvSpPr>
          <p:spPr>
            <a:xfrm flipH="false" flipV="false" rot="0">
              <a:off x="0" y="0"/>
              <a:ext cx="2592453" cy="867291"/>
            </a:xfrm>
            <a:custGeom>
              <a:avLst/>
              <a:gdLst/>
              <a:ahLst/>
              <a:cxnLst/>
              <a:rect r="r" b="b" t="t" l="l"/>
              <a:pathLst>
                <a:path h="867291" w="2592453">
                  <a:moveTo>
                    <a:pt x="0" y="0"/>
                  </a:moveTo>
                  <a:lnTo>
                    <a:pt x="2592453" y="0"/>
                  </a:lnTo>
                  <a:lnTo>
                    <a:pt x="2592453" y="867291"/>
                  </a:lnTo>
                  <a:lnTo>
                    <a:pt x="0" y="867291"/>
                  </a:lnTo>
                  <a:close/>
                </a:path>
              </a:pathLst>
            </a:custGeom>
            <a:solidFill>
              <a:srgbClr val="000000"/>
            </a:solidFill>
          </p:spPr>
        </p:sp>
        <p:sp>
          <p:nvSpPr>
            <p:cNvPr name="TextBox 4" id="4"/>
            <p:cNvSpPr txBox="true"/>
            <p:nvPr/>
          </p:nvSpPr>
          <p:spPr>
            <a:xfrm>
              <a:off x="0" y="-28575"/>
              <a:ext cx="2592453" cy="895866"/>
            </a:xfrm>
            <a:prstGeom prst="rect">
              <a:avLst/>
            </a:prstGeom>
          </p:spPr>
          <p:txBody>
            <a:bodyPr anchor="ctr" rtlCol="false" tIns="50800" lIns="50800" bIns="50800" rIns="50800"/>
            <a:lstStyle/>
            <a:p>
              <a:pPr algn="ctr">
                <a:lnSpc>
                  <a:spcPts val="1960"/>
                </a:lnSpc>
              </a:pPr>
            </a:p>
          </p:txBody>
        </p:sp>
      </p:grpSp>
      <p:sp>
        <p:nvSpPr>
          <p:cNvPr name="Freeform 5" id="5"/>
          <p:cNvSpPr/>
          <p:nvPr/>
        </p:nvSpPr>
        <p:spPr>
          <a:xfrm flipH="false" flipV="false" rot="0">
            <a:off x="-156757" y="172981"/>
            <a:ext cx="7596000" cy="2629060"/>
          </a:xfrm>
          <a:custGeom>
            <a:avLst/>
            <a:gdLst/>
            <a:ahLst/>
            <a:cxnLst/>
            <a:rect r="r" b="b" t="t" l="l"/>
            <a:pathLst>
              <a:path h="2629060" w="7596000">
                <a:moveTo>
                  <a:pt x="0" y="0"/>
                </a:moveTo>
                <a:lnTo>
                  <a:pt x="7596000" y="0"/>
                </a:lnTo>
                <a:lnTo>
                  <a:pt x="7596000" y="2629061"/>
                </a:lnTo>
                <a:lnTo>
                  <a:pt x="0" y="2629061"/>
                </a:lnTo>
                <a:lnTo>
                  <a:pt x="0" y="0"/>
                </a:lnTo>
                <a:close/>
              </a:path>
            </a:pathLst>
          </a:custGeom>
          <a:blipFill>
            <a:blip r:embed="rId2"/>
            <a:stretch>
              <a:fillRect l="0" t="-27945" r="0" b="-17238"/>
            </a:stretch>
          </a:blipFill>
        </p:spPr>
      </p:sp>
      <p:grpSp>
        <p:nvGrpSpPr>
          <p:cNvPr name="Group 6" id="6"/>
          <p:cNvGrpSpPr/>
          <p:nvPr/>
        </p:nvGrpSpPr>
        <p:grpSpPr>
          <a:xfrm rot="0">
            <a:off x="3777084" y="4510443"/>
            <a:ext cx="3641580" cy="621524"/>
            <a:chOff x="0" y="0"/>
            <a:chExt cx="1305060" cy="222740"/>
          </a:xfrm>
        </p:grpSpPr>
        <p:sp>
          <p:nvSpPr>
            <p:cNvPr name="Freeform 7" id="7"/>
            <p:cNvSpPr/>
            <p:nvPr/>
          </p:nvSpPr>
          <p:spPr>
            <a:xfrm flipH="false" flipV="false" rot="0">
              <a:off x="0" y="0"/>
              <a:ext cx="1305060" cy="222740"/>
            </a:xfrm>
            <a:custGeom>
              <a:avLst/>
              <a:gdLst/>
              <a:ahLst/>
              <a:cxnLst/>
              <a:rect r="r" b="b" t="t" l="l"/>
              <a:pathLst>
                <a:path h="222740" w="1305060">
                  <a:moveTo>
                    <a:pt x="0" y="0"/>
                  </a:moveTo>
                  <a:lnTo>
                    <a:pt x="1305060" y="0"/>
                  </a:lnTo>
                  <a:lnTo>
                    <a:pt x="1305060" y="222740"/>
                  </a:lnTo>
                  <a:lnTo>
                    <a:pt x="0" y="222740"/>
                  </a:lnTo>
                  <a:close/>
                </a:path>
              </a:pathLst>
            </a:custGeom>
            <a:solidFill>
              <a:srgbClr val="D9D9D9">
                <a:alpha val="58824"/>
              </a:srgbClr>
            </a:solidFill>
          </p:spPr>
        </p:sp>
        <p:sp>
          <p:nvSpPr>
            <p:cNvPr name="TextBox 8" id="8"/>
            <p:cNvSpPr txBox="true"/>
            <p:nvPr/>
          </p:nvSpPr>
          <p:spPr>
            <a:xfrm>
              <a:off x="0" y="-28575"/>
              <a:ext cx="1305060" cy="251315"/>
            </a:xfrm>
            <a:prstGeom prst="rect">
              <a:avLst/>
            </a:prstGeom>
          </p:spPr>
          <p:txBody>
            <a:bodyPr anchor="ctr" rtlCol="false" tIns="50800" lIns="50800" bIns="50800" rIns="50800"/>
            <a:lstStyle/>
            <a:p>
              <a:pPr algn="ctr">
                <a:lnSpc>
                  <a:spcPts val="1960"/>
                </a:lnSpc>
              </a:pPr>
            </a:p>
          </p:txBody>
        </p:sp>
      </p:grpSp>
      <p:grpSp>
        <p:nvGrpSpPr>
          <p:cNvPr name="Group 9" id="9"/>
          <p:cNvGrpSpPr/>
          <p:nvPr/>
        </p:nvGrpSpPr>
        <p:grpSpPr>
          <a:xfrm rot="0">
            <a:off x="3780000" y="5179592"/>
            <a:ext cx="3641580" cy="621524"/>
            <a:chOff x="0" y="0"/>
            <a:chExt cx="1305060" cy="222740"/>
          </a:xfrm>
        </p:grpSpPr>
        <p:sp>
          <p:nvSpPr>
            <p:cNvPr name="Freeform 10" id="10"/>
            <p:cNvSpPr/>
            <p:nvPr/>
          </p:nvSpPr>
          <p:spPr>
            <a:xfrm flipH="false" flipV="false" rot="0">
              <a:off x="0" y="0"/>
              <a:ext cx="1305060" cy="222740"/>
            </a:xfrm>
            <a:custGeom>
              <a:avLst/>
              <a:gdLst/>
              <a:ahLst/>
              <a:cxnLst/>
              <a:rect r="r" b="b" t="t" l="l"/>
              <a:pathLst>
                <a:path h="222740" w="1305060">
                  <a:moveTo>
                    <a:pt x="0" y="0"/>
                  </a:moveTo>
                  <a:lnTo>
                    <a:pt x="1305060" y="0"/>
                  </a:lnTo>
                  <a:lnTo>
                    <a:pt x="1305060" y="222740"/>
                  </a:lnTo>
                  <a:lnTo>
                    <a:pt x="0" y="222740"/>
                  </a:lnTo>
                  <a:close/>
                </a:path>
              </a:pathLst>
            </a:custGeom>
            <a:solidFill>
              <a:srgbClr val="D9D9D9">
                <a:alpha val="58824"/>
              </a:srgbClr>
            </a:solidFill>
          </p:spPr>
        </p:sp>
        <p:sp>
          <p:nvSpPr>
            <p:cNvPr name="TextBox 11" id="11"/>
            <p:cNvSpPr txBox="true"/>
            <p:nvPr/>
          </p:nvSpPr>
          <p:spPr>
            <a:xfrm>
              <a:off x="0" y="-28575"/>
              <a:ext cx="1305060" cy="251315"/>
            </a:xfrm>
            <a:prstGeom prst="rect">
              <a:avLst/>
            </a:prstGeom>
          </p:spPr>
          <p:txBody>
            <a:bodyPr anchor="ctr" rtlCol="false" tIns="50800" lIns="50800" bIns="50800" rIns="50800"/>
            <a:lstStyle/>
            <a:p>
              <a:pPr algn="ctr">
                <a:lnSpc>
                  <a:spcPts val="1960"/>
                </a:lnSpc>
              </a:pPr>
            </a:p>
          </p:txBody>
        </p:sp>
      </p:grpSp>
      <p:grpSp>
        <p:nvGrpSpPr>
          <p:cNvPr name="Group 12" id="12"/>
          <p:cNvGrpSpPr/>
          <p:nvPr/>
        </p:nvGrpSpPr>
        <p:grpSpPr>
          <a:xfrm rot="0">
            <a:off x="3766421" y="6517891"/>
            <a:ext cx="3641580" cy="777314"/>
            <a:chOff x="0" y="0"/>
            <a:chExt cx="1305060" cy="278572"/>
          </a:xfrm>
        </p:grpSpPr>
        <p:sp>
          <p:nvSpPr>
            <p:cNvPr name="Freeform 13" id="13"/>
            <p:cNvSpPr/>
            <p:nvPr/>
          </p:nvSpPr>
          <p:spPr>
            <a:xfrm flipH="false" flipV="false" rot="0">
              <a:off x="0" y="0"/>
              <a:ext cx="1305060" cy="278572"/>
            </a:xfrm>
            <a:custGeom>
              <a:avLst/>
              <a:gdLst/>
              <a:ahLst/>
              <a:cxnLst/>
              <a:rect r="r" b="b" t="t" l="l"/>
              <a:pathLst>
                <a:path h="278572" w="1305060">
                  <a:moveTo>
                    <a:pt x="0" y="0"/>
                  </a:moveTo>
                  <a:lnTo>
                    <a:pt x="1305060" y="0"/>
                  </a:lnTo>
                  <a:lnTo>
                    <a:pt x="1305060" y="278572"/>
                  </a:lnTo>
                  <a:lnTo>
                    <a:pt x="0" y="278572"/>
                  </a:lnTo>
                  <a:close/>
                </a:path>
              </a:pathLst>
            </a:custGeom>
            <a:solidFill>
              <a:srgbClr val="D9D9D9">
                <a:alpha val="58824"/>
              </a:srgbClr>
            </a:solidFill>
          </p:spPr>
        </p:sp>
        <p:sp>
          <p:nvSpPr>
            <p:cNvPr name="TextBox 14" id="14"/>
            <p:cNvSpPr txBox="true"/>
            <p:nvPr/>
          </p:nvSpPr>
          <p:spPr>
            <a:xfrm>
              <a:off x="0" y="-28575"/>
              <a:ext cx="1305060" cy="307147"/>
            </a:xfrm>
            <a:prstGeom prst="rect">
              <a:avLst/>
            </a:prstGeom>
          </p:spPr>
          <p:txBody>
            <a:bodyPr anchor="ctr" rtlCol="false" tIns="50800" lIns="50800" bIns="50800" rIns="50800"/>
            <a:lstStyle/>
            <a:p>
              <a:pPr algn="ctr">
                <a:lnSpc>
                  <a:spcPts val="1960"/>
                </a:lnSpc>
              </a:pPr>
            </a:p>
          </p:txBody>
        </p:sp>
      </p:grpSp>
      <p:grpSp>
        <p:nvGrpSpPr>
          <p:cNvPr name="Group 15" id="15"/>
          <p:cNvGrpSpPr/>
          <p:nvPr/>
        </p:nvGrpSpPr>
        <p:grpSpPr>
          <a:xfrm rot="0">
            <a:off x="3769462" y="7998706"/>
            <a:ext cx="3641580" cy="621524"/>
            <a:chOff x="0" y="0"/>
            <a:chExt cx="1305060" cy="222740"/>
          </a:xfrm>
        </p:grpSpPr>
        <p:sp>
          <p:nvSpPr>
            <p:cNvPr name="Freeform 16" id="16"/>
            <p:cNvSpPr/>
            <p:nvPr/>
          </p:nvSpPr>
          <p:spPr>
            <a:xfrm flipH="false" flipV="false" rot="0">
              <a:off x="0" y="0"/>
              <a:ext cx="1305060" cy="222740"/>
            </a:xfrm>
            <a:custGeom>
              <a:avLst/>
              <a:gdLst/>
              <a:ahLst/>
              <a:cxnLst/>
              <a:rect r="r" b="b" t="t" l="l"/>
              <a:pathLst>
                <a:path h="222740" w="1305060">
                  <a:moveTo>
                    <a:pt x="0" y="0"/>
                  </a:moveTo>
                  <a:lnTo>
                    <a:pt x="1305060" y="0"/>
                  </a:lnTo>
                  <a:lnTo>
                    <a:pt x="1305060" y="222740"/>
                  </a:lnTo>
                  <a:lnTo>
                    <a:pt x="0" y="222740"/>
                  </a:lnTo>
                  <a:close/>
                </a:path>
              </a:pathLst>
            </a:custGeom>
            <a:solidFill>
              <a:srgbClr val="D9D9D9">
                <a:alpha val="58824"/>
              </a:srgbClr>
            </a:solidFill>
          </p:spPr>
        </p:sp>
        <p:sp>
          <p:nvSpPr>
            <p:cNvPr name="TextBox 17" id="17"/>
            <p:cNvSpPr txBox="true"/>
            <p:nvPr/>
          </p:nvSpPr>
          <p:spPr>
            <a:xfrm>
              <a:off x="0" y="-28575"/>
              <a:ext cx="1305060" cy="251315"/>
            </a:xfrm>
            <a:prstGeom prst="rect">
              <a:avLst/>
            </a:prstGeom>
          </p:spPr>
          <p:txBody>
            <a:bodyPr anchor="ctr" rtlCol="false" tIns="50800" lIns="50800" bIns="50800" rIns="50800"/>
            <a:lstStyle/>
            <a:p>
              <a:pPr algn="ctr">
                <a:lnSpc>
                  <a:spcPts val="1960"/>
                </a:lnSpc>
              </a:pPr>
            </a:p>
          </p:txBody>
        </p:sp>
      </p:grpSp>
      <p:sp>
        <p:nvSpPr>
          <p:cNvPr name="Freeform 18" id="18"/>
          <p:cNvSpPr/>
          <p:nvPr/>
        </p:nvSpPr>
        <p:spPr>
          <a:xfrm flipH="false" flipV="false" rot="0">
            <a:off x="307753" y="7536127"/>
            <a:ext cx="3396028" cy="1036479"/>
          </a:xfrm>
          <a:custGeom>
            <a:avLst/>
            <a:gdLst/>
            <a:ahLst/>
            <a:cxnLst/>
            <a:rect r="r" b="b" t="t" l="l"/>
            <a:pathLst>
              <a:path h="1036479" w="3396028">
                <a:moveTo>
                  <a:pt x="0" y="0"/>
                </a:moveTo>
                <a:lnTo>
                  <a:pt x="3396028" y="0"/>
                </a:lnTo>
                <a:lnTo>
                  <a:pt x="3396028" y="1036479"/>
                </a:lnTo>
                <a:lnTo>
                  <a:pt x="0" y="1036479"/>
                </a:lnTo>
                <a:lnTo>
                  <a:pt x="0" y="0"/>
                </a:lnTo>
                <a:close/>
              </a:path>
            </a:pathLst>
          </a:custGeom>
          <a:blipFill>
            <a:blip r:embed="rId3"/>
            <a:stretch>
              <a:fillRect l="-65002" t="-30664" r="-52027" b="0"/>
            </a:stretch>
          </a:blipFill>
        </p:spPr>
      </p:sp>
      <p:grpSp>
        <p:nvGrpSpPr>
          <p:cNvPr name="Group 19" id="19"/>
          <p:cNvGrpSpPr/>
          <p:nvPr/>
        </p:nvGrpSpPr>
        <p:grpSpPr>
          <a:xfrm rot="0">
            <a:off x="-244894" y="2573292"/>
            <a:ext cx="7804894" cy="1019619"/>
            <a:chOff x="0" y="0"/>
            <a:chExt cx="2797098" cy="365408"/>
          </a:xfrm>
        </p:grpSpPr>
        <p:sp>
          <p:nvSpPr>
            <p:cNvPr name="Freeform 20" id="20"/>
            <p:cNvSpPr/>
            <p:nvPr/>
          </p:nvSpPr>
          <p:spPr>
            <a:xfrm flipH="false" flipV="false" rot="0">
              <a:off x="0" y="0"/>
              <a:ext cx="2797098" cy="365408"/>
            </a:xfrm>
            <a:custGeom>
              <a:avLst/>
              <a:gdLst/>
              <a:ahLst/>
              <a:cxnLst/>
              <a:rect r="r" b="b" t="t" l="l"/>
              <a:pathLst>
                <a:path h="365408" w="2797098">
                  <a:moveTo>
                    <a:pt x="0" y="0"/>
                  </a:moveTo>
                  <a:lnTo>
                    <a:pt x="2797098" y="0"/>
                  </a:lnTo>
                  <a:lnTo>
                    <a:pt x="2797098" y="365408"/>
                  </a:lnTo>
                  <a:lnTo>
                    <a:pt x="0" y="365408"/>
                  </a:lnTo>
                  <a:close/>
                </a:path>
              </a:pathLst>
            </a:custGeom>
            <a:solidFill>
              <a:srgbClr val="D9D9D9">
                <a:alpha val="64706"/>
              </a:srgbClr>
            </a:solidFill>
          </p:spPr>
        </p:sp>
        <p:sp>
          <p:nvSpPr>
            <p:cNvPr name="TextBox 21" id="21"/>
            <p:cNvSpPr txBox="true"/>
            <p:nvPr/>
          </p:nvSpPr>
          <p:spPr>
            <a:xfrm>
              <a:off x="0" y="-28575"/>
              <a:ext cx="2797098" cy="393983"/>
            </a:xfrm>
            <a:prstGeom prst="rect">
              <a:avLst/>
            </a:prstGeom>
          </p:spPr>
          <p:txBody>
            <a:bodyPr anchor="ctr" rtlCol="false" tIns="50800" lIns="50800" bIns="50800" rIns="50800"/>
            <a:lstStyle/>
            <a:p>
              <a:pPr algn="ctr">
                <a:lnSpc>
                  <a:spcPts val="1960"/>
                </a:lnSpc>
              </a:pPr>
            </a:p>
          </p:txBody>
        </p:sp>
      </p:grpSp>
      <p:sp>
        <p:nvSpPr>
          <p:cNvPr name="Freeform 22" id="22"/>
          <p:cNvSpPr/>
          <p:nvPr/>
        </p:nvSpPr>
        <p:spPr>
          <a:xfrm flipH="false" flipV="false" rot="0">
            <a:off x="344802" y="248970"/>
            <a:ext cx="1492922" cy="507030"/>
          </a:xfrm>
          <a:custGeom>
            <a:avLst/>
            <a:gdLst/>
            <a:ahLst/>
            <a:cxnLst/>
            <a:rect r="r" b="b" t="t" l="l"/>
            <a:pathLst>
              <a:path h="507030" w="1492922">
                <a:moveTo>
                  <a:pt x="0" y="0"/>
                </a:moveTo>
                <a:lnTo>
                  <a:pt x="1492922" y="0"/>
                </a:lnTo>
                <a:lnTo>
                  <a:pt x="1492922" y="507030"/>
                </a:lnTo>
                <a:lnTo>
                  <a:pt x="0" y="507030"/>
                </a:lnTo>
                <a:lnTo>
                  <a:pt x="0" y="0"/>
                </a:lnTo>
                <a:close/>
              </a:path>
            </a:pathLst>
          </a:custGeom>
          <a:blipFill>
            <a:blip r:embed="rId4"/>
            <a:stretch>
              <a:fillRect l="0" t="0" r="0" b="0"/>
            </a:stretch>
          </a:blipFill>
        </p:spPr>
      </p:sp>
      <p:grpSp>
        <p:nvGrpSpPr>
          <p:cNvPr name="Group 23" id="23"/>
          <p:cNvGrpSpPr/>
          <p:nvPr/>
        </p:nvGrpSpPr>
        <p:grpSpPr>
          <a:xfrm rot="0">
            <a:off x="1758848" y="2647217"/>
            <a:ext cx="1597879" cy="852719"/>
            <a:chOff x="0" y="0"/>
            <a:chExt cx="572644" cy="305595"/>
          </a:xfrm>
        </p:grpSpPr>
        <p:sp>
          <p:nvSpPr>
            <p:cNvPr name="Freeform 24" id="24"/>
            <p:cNvSpPr/>
            <p:nvPr/>
          </p:nvSpPr>
          <p:spPr>
            <a:xfrm flipH="false" flipV="false" rot="0">
              <a:off x="0" y="0"/>
              <a:ext cx="572644" cy="305595"/>
            </a:xfrm>
            <a:custGeom>
              <a:avLst/>
              <a:gdLst/>
              <a:ahLst/>
              <a:cxnLst/>
              <a:rect r="r" b="b" t="t" l="l"/>
              <a:pathLst>
                <a:path h="305595" w="572644">
                  <a:moveTo>
                    <a:pt x="0" y="0"/>
                  </a:moveTo>
                  <a:lnTo>
                    <a:pt x="572644" y="0"/>
                  </a:lnTo>
                  <a:lnTo>
                    <a:pt x="572644" y="305595"/>
                  </a:lnTo>
                  <a:lnTo>
                    <a:pt x="0" y="305595"/>
                  </a:lnTo>
                  <a:close/>
                </a:path>
              </a:pathLst>
            </a:custGeom>
            <a:solidFill>
              <a:srgbClr val="000000"/>
            </a:solidFill>
            <a:ln w="9525" cap="sq">
              <a:solidFill>
                <a:srgbClr val="000000"/>
              </a:solidFill>
              <a:prstDash val="solid"/>
              <a:miter/>
            </a:ln>
          </p:spPr>
        </p:sp>
        <p:sp>
          <p:nvSpPr>
            <p:cNvPr name="TextBox 25" id="25"/>
            <p:cNvSpPr txBox="true"/>
            <p:nvPr/>
          </p:nvSpPr>
          <p:spPr>
            <a:xfrm>
              <a:off x="0" y="-28575"/>
              <a:ext cx="572644" cy="334170"/>
            </a:xfrm>
            <a:prstGeom prst="rect">
              <a:avLst/>
            </a:prstGeom>
          </p:spPr>
          <p:txBody>
            <a:bodyPr anchor="ctr" rtlCol="false" tIns="50800" lIns="50800" bIns="50800" rIns="50800"/>
            <a:lstStyle/>
            <a:p>
              <a:pPr algn="ctr">
                <a:lnSpc>
                  <a:spcPts val="1960"/>
                </a:lnSpc>
              </a:pPr>
            </a:p>
          </p:txBody>
        </p:sp>
      </p:grpSp>
      <p:grpSp>
        <p:nvGrpSpPr>
          <p:cNvPr name="Group 26" id="26"/>
          <p:cNvGrpSpPr/>
          <p:nvPr/>
        </p:nvGrpSpPr>
        <p:grpSpPr>
          <a:xfrm rot="0">
            <a:off x="3383350" y="2647217"/>
            <a:ext cx="1637556" cy="852719"/>
            <a:chOff x="0" y="0"/>
            <a:chExt cx="586863" cy="305595"/>
          </a:xfrm>
        </p:grpSpPr>
        <p:sp>
          <p:nvSpPr>
            <p:cNvPr name="Freeform 27" id="27"/>
            <p:cNvSpPr/>
            <p:nvPr/>
          </p:nvSpPr>
          <p:spPr>
            <a:xfrm flipH="false" flipV="false" rot="0">
              <a:off x="0" y="0"/>
              <a:ext cx="586863" cy="305595"/>
            </a:xfrm>
            <a:custGeom>
              <a:avLst/>
              <a:gdLst/>
              <a:ahLst/>
              <a:cxnLst/>
              <a:rect r="r" b="b" t="t" l="l"/>
              <a:pathLst>
                <a:path h="305595" w="586863">
                  <a:moveTo>
                    <a:pt x="0" y="0"/>
                  </a:moveTo>
                  <a:lnTo>
                    <a:pt x="586863" y="0"/>
                  </a:lnTo>
                  <a:lnTo>
                    <a:pt x="586863" y="305595"/>
                  </a:lnTo>
                  <a:lnTo>
                    <a:pt x="0" y="305595"/>
                  </a:lnTo>
                  <a:close/>
                </a:path>
              </a:pathLst>
            </a:custGeom>
            <a:solidFill>
              <a:srgbClr val="000000"/>
            </a:solidFill>
            <a:ln w="9525" cap="sq">
              <a:solidFill>
                <a:srgbClr val="000000"/>
              </a:solidFill>
              <a:prstDash val="solid"/>
              <a:miter/>
            </a:ln>
          </p:spPr>
        </p:sp>
        <p:sp>
          <p:nvSpPr>
            <p:cNvPr name="TextBox 28" id="28"/>
            <p:cNvSpPr txBox="true"/>
            <p:nvPr/>
          </p:nvSpPr>
          <p:spPr>
            <a:xfrm>
              <a:off x="0" y="-28575"/>
              <a:ext cx="586863" cy="334170"/>
            </a:xfrm>
            <a:prstGeom prst="rect">
              <a:avLst/>
            </a:prstGeom>
          </p:spPr>
          <p:txBody>
            <a:bodyPr anchor="ctr" rtlCol="false" tIns="50800" lIns="50800" bIns="50800" rIns="50800"/>
            <a:lstStyle/>
            <a:p>
              <a:pPr algn="ctr">
                <a:lnSpc>
                  <a:spcPts val="1960"/>
                </a:lnSpc>
              </a:pPr>
            </a:p>
          </p:txBody>
        </p:sp>
      </p:grpSp>
      <p:grpSp>
        <p:nvGrpSpPr>
          <p:cNvPr name="Group 29" id="29"/>
          <p:cNvGrpSpPr/>
          <p:nvPr/>
        </p:nvGrpSpPr>
        <p:grpSpPr>
          <a:xfrm rot="0">
            <a:off x="5061324" y="2647217"/>
            <a:ext cx="1637556" cy="852719"/>
            <a:chOff x="0" y="0"/>
            <a:chExt cx="586863" cy="305595"/>
          </a:xfrm>
        </p:grpSpPr>
        <p:sp>
          <p:nvSpPr>
            <p:cNvPr name="Freeform 30" id="30"/>
            <p:cNvSpPr/>
            <p:nvPr/>
          </p:nvSpPr>
          <p:spPr>
            <a:xfrm flipH="false" flipV="false" rot="0">
              <a:off x="0" y="0"/>
              <a:ext cx="586863" cy="305595"/>
            </a:xfrm>
            <a:custGeom>
              <a:avLst/>
              <a:gdLst/>
              <a:ahLst/>
              <a:cxnLst/>
              <a:rect r="r" b="b" t="t" l="l"/>
              <a:pathLst>
                <a:path h="305595" w="586863">
                  <a:moveTo>
                    <a:pt x="0" y="0"/>
                  </a:moveTo>
                  <a:lnTo>
                    <a:pt x="586863" y="0"/>
                  </a:lnTo>
                  <a:lnTo>
                    <a:pt x="586863" y="305595"/>
                  </a:lnTo>
                  <a:lnTo>
                    <a:pt x="0" y="305595"/>
                  </a:lnTo>
                  <a:close/>
                </a:path>
              </a:pathLst>
            </a:custGeom>
            <a:solidFill>
              <a:srgbClr val="000000"/>
            </a:solidFill>
            <a:ln w="9525" cap="sq">
              <a:solidFill>
                <a:srgbClr val="000000"/>
              </a:solidFill>
              <a:prstDash val="solid"/>
              <a:miter/>
            </a:ln>
          </p:spPr>
        </p:sp>
        <p:sp>
          <p:nvSpPr>
            <p:cNvPr name="TextBox 31" id="31"/>
            <p:cNvSpPr txBox="true"/>
            <p:nvPr/>
          </p:nvSpPr>
          <p:spPr>
            <a:xfrm>
              <a:off x="0" y="-28575"/>
              <a:ext cx="586863" cy="334170"/>
            </a:xfrm>
            <a:prstGeom prst="rect">
              <a:avLst/>
            </a:prstGeom>
          </p:spPr>
          <p:txBody>
            <a:bodyPr anchor="ctr" rtlCol="false" tIns="50800" lIns="50800" bIns="50800" rIns="50800"/>
            <a:lstStyle/>
            <a:p>
              <a:pPr algn="ctr">
                <a:lnSpc>
                  <a:spcPts val="1960"/>
                </a:lnSpc>
              </a:pPr>
            </a:p>
          </p:txBody>
        </p:sp>
      </p:grpSp>
      <p:grpSp>
        <p:nvGrpSpPr>
          <p:cNvPr name="Group 32" id="32"/>
          <p:cNvGrpSpPr/>
          <p:nvPr/>
        </p:nvGrpSpPr>
        <p:grpSpPr>
          <a:xfrm rot="0">
            <a:off x="229408" y="2647217"/>
            <a:ext cx="1482286" cy="852719"/>
            <a:chOff x="0" y="0"/>
            <a:chExt cx="531218" cy="305595"/>
          </a:xfrm>
        </p:grpSpPr>
        <p:sp>
          <p:nvSpPr>
            <p:cNvPr name="Freeform 33" id="33"/>
            <p:cNvSpPr/>
            <p:nvPr/>
          </p:nvSpPr>
          <p:spPr>
            <a:xfrm flipH="false" flipV="false" rot="0">
              <a:off x="0" y="0"/>
              <a:ext cx="531218" cy="305595"/>
            </a:xfrm>
            <a:custGeom>
              <a:avLst/>
              <a:gdLst/>
              <a:ahLst/>
              <a:cxnLst/>
              <a:rect r="r" b="b" t="t" l="l"/>
              <a:pathLst>
                <a:path h="305595" w="531218">
                  <a:moveTo>
                    <a:pt x="0" y="0"/>
                  </a:moveTo>
                  <a:lnTo>
                    <a:pt x="531218" y="0"/>
                  </a:lnTo>
                  <a:lnTo>
                    <a:pt x="531218" y="305595"/>
                  </a:lnTo>
                  <a:lnTo>
                    <a:pt x="0" y="305595"/>
                  </a:lnTo>
                  <a:close/>
                </a:path>
              </a:pathLst>
            </a:custGeom>
            <a:solidFill>
              <a:srgbClr val="000000"/>
            </a:solidFill>
            <a:ln w="9525" cap="sq">
              <a:solidFill>
                <a:srgbClr val="000000"/>
              </a:solidFill>
              <a:prstDash val="solid"/>
              <a:miter/>
            </a:ln>
          </p:spPr>
        </p:sp>
        <p:sp>
          <p:nvSpPr>
            <p:cNvPr name="TextBox 34" id="34"/>
            <p:cNvSpPr txBox="true"/>
            <p:nvPr/>
          </p:nvSpPr>
          <p:spPr>
            <a:xfrm>
              <a:off x="0" y="-28575"/>
              <a:ext cx="531218" cy="334170"/>
            </a:xfrm>
            <a:prstGeom prst="rect">
              <a:avLst/>
            </a:prstGeom>
          </p:spPr>
          <p:txBody>
            <a:bodyPr anchor="ctr" rtlCol="false" tIns="50800" lIns="50800" bIns="50800" rIns="50800"/>
            <a:lstStyle/>
            <a:p>
              <a:pPr algn="ctr">
                <a:lnSpc>
                  <a:spcPts val="1960"/>
                </a:lnSpc>
              </a:pPr>
            </a:p>
          </p:txBody>
        </p:sp>
      </p:grpSp>
      <p:grpSp>
        <p:nvGrpSpPr>
          <p:cNvPr name="Group 35" id="35"/>
          <p:cNvGrpSpPr/>
          <p:nvPr/>
        </p:nvGrpSpPr>
        <p:grpSpPr>
          <a:xfrm rot="0">
            <a:off x="3780000" y="3997327"/>
            <a:ext cx="3641580" cy="465491"/>
            <a:chOff x="0" y="0"/>
            <a:chExt cx="1305060" cy="166821"/>
          </a:xfrm>
        </p:grpSpPr>
        <p:sp>
          <p:nvSpPr>
            <p:cNvPr name="Freeform 36" id="36"/>
            <p:cNvSpPr/>
            <p:nvPr/>
          </p:nvSpPr>
          <p:spPr>
            <a:xfrm flipH="false" flipV="false" rot="0">
              <a:off x="0" y="0"/>
              <a:ext cx="1305060" cy="166821"/>
            </a:xfrm>
            <a:custGeom>
              <a:avLst/>
              <a:gdLst/>
              <a:ahLst/>
              <a:cxnLst/>
              <a:rect r="r" b="b" t="t" l="l"/>
              <a:pathLst>
                <a:path h="166821" w="1305060">
                  <a:moveTo>
                    <a:pt x="0" y="0"/>
                  </a:moveTo>
                  <a:lnTo>
                    <a:pt x="1305060" y="0"/>
                  </a:lnTo>
                  <a:lnTo>
                    <a:pt x="1305060" y="166821"/>
                  </a:lnTo>
                  <a:lnTo>
                    <a:pt x="0" y="166821"/>
                  </a:lnTo>
                  <a:close/>
                </a:path>
              </a:pathLst>
            </a:custGeom>
            <a:solidFill>
              <a:srgbClr val="D9D9D9">
                <a:alpha val="58824"/>
              </a:srgbClr>
            </a:solidFill>
          </p:spPr>
        </p:sp>
        <p:sp>
          <p:nvSpPr>
            <p:cNvPr name="TextBox 37" id="37"/>
            <p:cNvSpPr txBox="true"/>
            <p:nvPr/>
          </p:nvSpPr>
          <p:spPr>
            <a:xfrm>
              <a:off x="0" y="-28575"/>
              <a:ext cx="1305060" cy="195396"/>
            </a:xfrm>
            <a:prstGeom prst="rect">
              <a:avLst/>
            </a:prstGeom>
          </p:spPr>
          <p:txBody>
            <a:bodyPr anchor="ctr" rtlCol="false" tIns="50800" lIns="50800" bIns="50800" rIns="50800"/>
            <a:lstStyle/>
            <a:p>
              <a:pPr algn="ctr">
                <a:lnSpc>
                  <a:spcPts val="1960"/>
                </a:lnSpc>
              </a:pPr>
            </a:p>
          </p:txBody>
        </p:sp>
      </p:grpSp>
      <p:grpSp>
        <p:nvGrpSpPr>
          <p:cNvPr name="Group 38" id="38"/>
          <p:cNvGrpSpPr/>
          <p:nvPr/>
        </p:nvGrpSpPr>
        <p:grpSpPr>
          <a:xfrm rot="0">
            <a:off x="0" y="8677381"/>
            <a:ext cx="7560000" cy="1145821"/>
            <a:chOff x="0" y="0"/>
            <a:chExt cx="2709333" cy="410636"/>
          </a:xfrm>
        </p:grpSpPr>
        <p:sp>
          <p:nvSpPr>
            <p:cNvPr name="Freeform 39" id="39"/>
            <p:cNvSpPr/>
            <p:nvPr/>
          </p:nvSpPr>
          <p:spPr>
            <a:xfrm flipH="false" flipV="false" rot="0">
              <a:off x="0" y="0"/>
              <a:ext cx="2709333" cy="410636"/>
            </a:xfrm>
            <a:custGeom>
              <a:avLst/>
              <a:gdLst/>
              <a:ahLst/>
              <a:cxnLst/>
              <a:rect r="r" b="b" t="t" l="l"/>
              <a:pathLst>
                <a:path h="410636" w="2709333">
                  <a:moveTo>
                    <a:pt x="0" y="0"/>
                  </a:moveTo>
                  <a:lnTo>
                    <a:pt x="2709333" y="0"/>
                  </a:lnTo>
                  <a:lnTo>
                    <a:pt x="2709333" y="410636"/>
                  </a:lnTo>
                  <a:lnTo>
                    <a:pt x="0" y="410636"/>
                  </a:lnTo>
                  <a:close/>
                </a:path>
              </a:pathLst>
            </a:custGeom>
            <a:solidFill>
              <a:srgbClr val="D9D9D9">
                <a:alpha val="58824"/>
              </a:srgbClr>
            </a:solidFill>
          </p:spPr>
        </p:sp>
        <p:sp>
          <p:nvSpPr>
            <p:cNvPr name="TextBox 40" id="40"/>
            <p:cNvSpPr txBox="true"/>
            <p:nvPr/>
          </p:nvSpPr>
          <p:spPr>
            <a:xfrm>
              <a:off x="0" y="-28575"/>
              <a:ext cx="2709333" cy="439211"/>
            </a:xfrm>
            <a:prstGeom prst="rect">
              <a:avLst/>
            </a:prstGeom>
          </p:spPr>
          <p:txBody>
            <a:bodyPr anchor="ctr" rtlCol="false" tIns="50800" lIns="50800" bIns="50800" rIns="50800"/>
            <a:lstStyle/>
            <a:p>
              <a:pPr algn="ctr">
                <a:lnSpc>
                  <a:spcPts val="1960"/>
                </a:lnSpc>
              </a:pPr>
            </a:p>
          </p:txBody>
        </p:sp>
      </p:grpSp>
      <p:sp>
        <p:nvSpPr>
          <p:cNvPr name="Freeform 41" id="41"/>
          <p:cNvSpPr/>
          <p:nvPr/>
        </p:nvSpPr>
        <p:spPr>
          <a:xfrm flipH="false" flipV="false" rot="0">
            <a:off x="2334462" y="2715615"/>
            <a:ext cx="486327" cy="486327"/>
          </a:xfrm>
          <a:custGeom>
            <a:avLst/>
            <a:gdLst/>
            <a:ahLst/>
            <a:cxnLst/>
            <a:rect r="r" b="b" t="t" l="l"/>
            <a:pathLst>
              <a:path h="486327" w="486327">
                <a:moveTo>
                  <a:pt x="0" y="0"/>
                </a:moveTo>
                <a:lnTo>
                  <a:pt x="486327" y="0"/>
                </a:lnTo>
                <a:lnTo>
                  <a:pt x="486327" y="486327"/>
                </a:lnTo>
                <a:lnTo>
                  <a:pt x="0" y="4863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2" id="42"/>
          <p:cNvSpPr/>
          <p:nvPr/>
        </p:nvSpPr>
        <p:spPr>
          <a:xfrm flipH="false" flipV="false" rot="0">
            <a:off x="3966337" y="2730361"/>
            <a:ext cx="471582" cy="471582"/>
          </a:xfrm>
          <a:custGeom>
            <a:avLst/>
            <a:gdLst/>
            <a:ahLst/>
            <a:cxnLst/>
            <a:rect r="r" b="b" t="t" l="l"/>
            <a:pathLst>
              <a:path h="471582" w="471582">
                <a:moveTo>
                  <a:pt x="0" y="0"/>
                </a:moveTo>
                <a:lnTo>
                  <a:pt x="471582" y="0"/>
                </a:lnTo>
                <a:lnTo>
                  <a:pt x="471582" y="471581"/>
                </a:lnTo>
                <a:lnTo>
                  <a:pt x="0" y="47158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43" id="43"/>
          <p:cNvGrpSpPr/>
          <p:nvPr/>
        </p:nvGrpSpPr>
        <p:grpSpPr>
          <a:xfrm rot="0">
            <a:off x="-118666" y="9801657"/>
            <a:ext cx="7678666" cy="891944"/>
            <a:chOff x="0" y="0"/>
            <a:chExt cx="2751861" cy="319652"/>
          </a:xfrm>
        </p:grpSpPr>
        <p:sp>
          <p:nvSpPr>
            <p:cNvPr name="Freeform 44" id="44"/>
            <p:cNvSpPr/>
            <p:nvPr/>
          </p:nvSpPr>
          <p:spPr>
            <a:xfrm flipH="false" flipV="false" rot="0">
              <a:off x="0" y="0"/>
              <a:ext cx="2751861" cy="319652"/>
            </a:xfrm>
            <a:custGeom>
              <a:avLst/>
              <a:gdLst/>
              <a:ahLst/>
              <a:cxnLst/>
              <a:rect r="r" b="b" t="t" l="l"/>
              <a:pathLst>
                <a:path h="319652" w="2751861">
                  <a:moveTo>
                    <a:pt x="0" y="0"/>
                  </a:moveTo>
                  <a:lnTo>
                    <a:pt x="2751861" y="0"/>
                  </a:lnTo>
                  <a:lnTo>
                    <a:pt x="2751861" y="319652"/>
                  </a:lnTo>
                  <a:lnTo>
                    <a:pt x="0" y="319652"/>
                  </a:lnTo>
                  <a:close/>
                </a:path>
              </a:pathLst>
            </a:custGeom>
            <a:solidFill>
              <a:srgbClr val="C9CACA"/>
            </a:solidFill>
          </p:spPr>
        </p:sp>
        <p:sp>
          <p:nvSpPr>
            <p:cNvPr name="TextBox 45" id="45"/>
            <p:cNvSpPr txBox="true"/>
            <p:nvPr/>
          </p:nvSpPr>
          <p:spPr>
            <a:xfrm>
              <a:off x="0" y="-28575"/>
              <a:ext cx="2751861" cy="348227"/>
            </a:xfrm>
            <a:prstGeom prst="rect">
              <a:avLst/>
            </a:prstGeom>
          </p:spPr>
          <p:txBody>
            <a:bodyPr anchor="ctr" rtlCol="false" tIns="50800" lIns="50800" bIns="50800" rIns="50800"/>
            <a:lstStyle/>
            <a:p>
              <a:pPr algn="ctr">
                <a:lnSpc>
                  <a:spcPts val="1960"/>
                </a:lnSpc>
              </a:pPr>
            </a:p>
          </p:txBody>
        </p:sp>
      </p:grpSp>
      <p:grpSp>
        <p:nvGrpSpPr>
          <p:cNvPr name="Group 46" id="46"/>
          <p:cNvGrpSpPr/>
          <p:nvPr/>
        </p:nvGrpSpPr>
        <p:grpSpPr>
          <a:xfrm rot="0">
            <a:off x="1911989" y="10019131"/>
            <a:ext cx="1637556" cy="530938"/>
            <a:chOff x="0" y="0"/>
            <a:chExt cx="586863" cy="190276"/>
          </a:xfrm>
        </p:grpSpPr>
        <p:sp>
          <p:nvSpPr>
            <p:cNvPr name="Freeform 47" id="47"/>
            <p:cNvSpPr/>
            <p:nvPr/>
          </p:nvSpPr>
          <p:spPr>
            <a:xfrm flipH="false" flipV="false" rot="0">
              <a:off x="0" y="0"/>
              <a:ext cx="586863" cy="190276"/>
            </a:xfrm>
            <a:custGeom>
              <a:avLst/>
              <a:gdLst/>
              <a:ahLst/>
              <a:cxnLst/>
              <a:rect r="r" b="b" t="t" l="l"/>
              <a:pathLst>
                <a:path h="190276" w="586863">
                  <a:moveTo>
                    <a:pt x="0" y="0"/>
                  </a:moveTo>
                  <a:lnTo>
                    <a:pt x="586863" y="0"/>
                  </a:lnTo>
                  <a:lnTo>
                    <a:pt x="586863" y="190276"/>
                  </a:lnTo>
                  <a:lnTo>
                    <a:pt x="0" y="190276"/>
                  </a:lnTo>
                  <a:close/>
                </a:path>
              </a:pathLst>
            </a:custGeom>
            <a:solidFill>
              <a:srgbClr val="000000"/>
            </a:solidFill>
            <a:ln w="9525" cap="sq">
              <a:solidFill>
                <a:srgbClr val="000000"/>
              </a:solidFill>
              <a:prstDash val="solid"/>
              <a:miter/>
            </a:ln>
          </p:spPr>
        </p:sp>
        <p:sp>
          <p:nvSpPr>
            <p:cNvPr name="TextBox 48" id="48"/>
            <p:cNvSpPr txBox="true"/>
            <p:nvPr/>
          </p:nvSpPr>
          <p:spPr>
            <a:xfrm>
              <a:off x="0" y="-28575"/>
              <a:ext cx="586863" cy="218851"/>
            </a:xfrm>
            <a:prstGeom prst="rect">
              <a:avLst/>
            </a:prstGeom>
          </p:spPr>
          <p:txBody>
            <a:bodyPr anchor="ctr" rtlCol="false" tIns="50800" lIns="50800" bIns="50800" rIns="50800"/>
            <a:lstStyle/>
            <a:p>
              <a:pPr algn="ctr">
                <a:lnSpc>
                  <a:spcPts val="1960"/>
                </a:lnSpc>
              </a:pPr>
            </a:p>
          </p:txBody>
        </p:sp>
      </p:grpSp>
      <p:grpSp>
        <p:nvGrpSpPr>
          <p:cNvPr name="Group 49" id="49"/>
          <p:cNvGrpSpPr/>
          <p:nvPr/>
        </p:nvGrpSpPr>
        <p:grpSpPr>
          <a:xfrm rot="0">
            <a:off x="3673369" y="10019131"/>
            <a:ext cx="1637556" cy="530938"/>
            <a:chOff x="0" y="0"/>
            <a:chExt cx="586863" cy="190276"/>
          </a:xfrm>
        </p:grpSpPr>
        <p:sp>
          <p:nvSpPr>
            <p:cNvPr name="Freeform 50" id="50"/>
            <p:cNvSpPr/>
            <p:nvPr/>
          </p:nvSpPr>
          <p:spPr>
            <a:xfrm flipH="false" flipV="false" rot="0">
              <a:off x="0" y="0"/>
              <a:ext cx="586863" cy="190276"/>
            </a:xfrm>
            <a:custGeom>
              <a:avLst/>
              <a:gdLst/>
              <a:ahLst/>
              <a:cxnLst/>
              <a:rect r="r" b="b" t="t" l="l"/>
              <a:pathLst>
                <a:path h="190276" w="586863">
                  <a:moveTo>
                    <a:pt x="0" y="0"/>
                  </a:moveTo>
                  <a:lnTo>
                    <a:pt x="586863" y="0"/>
                  </a:lnTo>
                  <a:lnTo>
                    <a:pt x="586863" y="190276"/>
                  </a:lnTo>
                  <a:lnTo>
                    <a:pt x="0" y="190276"/>
                  </a:lnTo>
                  <a:close/>
                </a:path>
              </a:pathLst>
            </a:custGeom>
            <a:solidFill>
              <a:srgbClr val="000000"/>
            </a:solidFill>
            <a:ln w="9525" cap="sq">
              <a:solidFill>
                <a:srgbClr val="000000"/>
              </a:solidFill>
              <a:prstDash val="solid"/>
              <a:miter/>
            </a:ln>
          </p:spPr>
        </p:sp>
        <p:sp>
          <p:nvSpPr>
            <p:cNvPr name="TextBox 51" id="51"/>
            <p:cNvSpPr txBox="true"/>
            <p:nvPr/>
          </p:nvSpPr>
          <p:spPr>
            <a:xfrm>
              <a:off x="0" y="-28575"/>
              <a:ext cx="586863" cy="218851"/>
            </a:xfrm>
            <a:prstGeom prst="rect">
              <a:avLst/>
            </a:prstGeom>
          </p:spPr>
          <p:txBody>
            <a:bodyPr anchor="ctr" rtlCol="false" tIns="50800" lIns="50800" bIns="50800" rIns="50800"/>
            <a:lstStyle/>
            <a:p>
              <a:pPr algn="ctr">
                <a:lnSpc>
                  <a:spcPts val="1960"/>
                </a:lnSpc>
              </a:pPr>
            </a:p>
          </p:txBody>
        </p:sp>
      </p:grpSp>
      <p:sp>
        <p:nvSpPr>
          <p:cNvPr name="Freeform 52" id="52"/>
          <p:cNvSpPr/>
          <p:nvPr/>
        </p:nvSpPr>
        <p:spPr>
          <a:xfrm flipH="false" flipV="false" rot="0">
            <a:off x="3766421" y="10174986"/>
            <a:ext cx="1451561" cy="229830"/>
          </a:xfrm>
          <a:custGeom>
            <a:avLst/>
            <a:gdLst/>
            <a:ahLst/>
            <a:cxnLst/>
            <a:rect r="r" b="b" t="t" l="l"/>
            <a:pathLst>
              <a:path h="229830" w="1451561">
                <a:moveTo>
                  <a:pt x="0" y="0"/>
                </a:moveTo>
                <a:lnTo>
                  <a:pt x="1451561" y="0"/>
                </a:lnTo>
                <a:lnTo>
                  <a:pt x="1451561" y="229830"/>
                </a:lnTo>
                <a:lnTo>
                  <a:pt x="0" y="229830"/>
                </a:lnTo>
                <a:lnTo>
                  <a:pt x="0" y="0"/>
                </a:lnTo>
                <a:close/>
              </a:path>
            </a:pathLst>
          </a:custGeom>
          <a:blipFill>
            <a:blip r:embed="rId9"/>
            <a:stretch>
              <a:fillRect l="0" t="0" r="0" b="0"/>
            </a:stretch>
          </a:blipFill>
        </p:spPr>
      </p:sp>
      <p:grpSp>
        <p:nvGrpSpPr>
          <p:cNvPr name="Group 53" id="53"/>
          <p:cNvGrpSpPr/>
          <p:nvPr/>
        </p:nvGrpSpPr>
        <p:grpSpPr>
          <a:xfrm rot="0">
            <a:off x="229408" y="9999366"/>
            <a:ext cx="1561391" cy="550703"/>
            <a:chOff x="0" y="0"/>
            <a:chExt cx="559567" cy="197359"/>
          </a:xfrm>
        </p:grpSpPr>
        <p:sp>
          <p:nvSpPr>
            <p:cNvPr name="Freeform 54" id="54"/>
            <p:cNvSpPr/>
            <p:nvPr/>
          </p:nvSpPr>
          <p:spPr>
            <a:xfrm flipH="false" flipV="false" rot="0">
              <a:off x="0" y="0"/>
              <a:ext cx="559567" cy="197359"/>
            </a:xfrm>
            <a:custGeom>
              <a:avLst/>
              <a:gdLst/>
              <a:ahLst/>
              <a:cxnLst/>
              <a:rect r="r" b="b" t="t" l="l"/>
              <a:pathLst>
                <a:path h="197359" w="559567">
                  <a:moveTo>
                    <a:pt x="0" y="0"/>
                  </a:moveTo>
                  <a:lnTo>
                    <a:pt x="559567" y="0"/>
                  </a:lnTo>
                  <a:lnTo>
                    <a:pt x="559567" y="197359"/>
                  </a:lnTo>
                  <a:lnTo>
                    <a:pt x="0" y="197359"/>
                  </a:lnTo>
                  <a:close/>
                </a:path>
              </a:pathLst>
            </a:custGeom>
            <a:solidFill>
              <a:srgbClr val="000000"/>
            </a:solidFill>
            <a:ln w="9525" cap="sq">
              <a:solidFill>
                <a:srgbClr val="000000"/>
              </a:solidFill>
              <a:prstDash val="solid"/>
              <a:miter/>
            </a:ln>
          </p:spPr>
        </p:sp>
        <p:sp>
          <p:nvSpPr>
            <p:cNvPr name="TextBox 55" id="55"/>
            <p:cNvSpPr txBox="true"/>
            <p:nvPr/>
          </p:nvSpPr>
          <p:spPr>
            <a:xfrm>
              <a:off x="0" y="-28575"/>
              <a:ext cx="559567" cy="225934"/>
            </a:xfrm>
            <a:prstGeom prst="rect">
              <a:avLst/>
            </a:prstGeom>
          </p:spPr>
          <p:txBody>
            <a:bodyPr anchor="ctr" rtlCol="false" tIns="50800" lIns="50800" bIns="50800" rIns="50800"/>
            <a:lstStyle/>
            <a:p>
              <a:pPr algn="ctr">
                <a:lnSpc>
                  <a:spcPts val="1960"/>
                </a:lnSpc>
              </a:pPr>
            </a:p>
          </p:txBody>
        </p:sp>
      </p:grpSp>
      <p:sp>
        <p:nvSpPr>
          <p:cNvPr name="Freeform 56" id="56"/>
          <p:cNvSpPr/>
          <p:nvPr/>
        </p:nvSpPr>
        <p:spPr>
          <a:xfrm flipH="false" flipV="false" rot="0">
            <a:off x="307753" y="10159292"/>
            <a:ext cx="1458307" cy="230852"/>
          </a:xfrm>
          <a:custGeom>
            <a:avLst/>
            <a:gdLst/>
            <a:ahLst/>
            <a:cxnLst/>
            <a:rect r="r" b="b" t="t" l="l"/>
            <a:pathLst>
              <a:path h="230852" w="1458307">
                <a:moveTo>
                  <a:pt x="0" y="0"/>
                </a:moveTo>
                <a:lnTo>
                  <a:pt x="1458306" y="0"/>
                </a:lnTo>
                <a:lnTo>
                  <a:pt x="1458306" y="230852"/>
                </a:lnTo>
                <a:lnTo>
                  <a:pt x="0" y="230852"/>
                </a:lnTo>
                <a:lnTo>
                  <a:pt x="0" y="0"/>
                </a:lnTo>
                <a:close/>
              </a:path>
            </a:pathLst>
          </a:custGeom>
          <a:blipFill>
            <a:blip r:embed="rId10"/>
            <a:stretch>
              <a:fillRect l="0" t="0" r="0" b="0"/>
            </a:stretch>
          </a:blipFill>
        </p:spPr>
      </p:sp>
      <p:sp>
        <p:nvSpPr>
          <p:cNvPr name="Freeform 57" id="57"/>
          <p:cNvSpPr/>
          <p:nvPr/>
        </p:nvSpPr>
        <p:spPr>
          <a:xfrm flipH="false" flipV="false" rot="0">
            <a:off x="1961290" y="10081693"/>
            <a:ext cx="1538953" cy="396281"/>
          </a:xfrm>
          <a:custGeom>
            <a:avLst/>
            <a:gdLst/>
            <a:ahLst/>
            <a:cxnLst/>
            <a:rect r="r" b="b" t="t" l="l"/>
            <a:pathLst>
              <a:path h="396281" w="1538953">
                <a:moveTo>
                  <a:pt x="0" y="0"/>
                </a:moveTo>
                <a:lnTo>
                  <a:pt x="1538953" y="0"/>
                </a:lnTo>
                <a:lnTo>
                  <a:pt x="1538953" y="396281"/>
                </a:lnTo>
                <a:lnTo>
                  <a:pt x="0" y="396281"/>
                </a:lnTo>
                <a:lnTo>
                  <a:pt x="0" y="0"/>
                </a:lnTo>
                <a:close/>
              </a:path>
            </a:pathLst>
          </a:custGeom>
          <a:blipFill>
            <a:blip r:embed="rId11"/>
            <a:stretch>
              <a:fillRect l="0" t="0" r="0" b="0"/>
            </a:stretch>
          </a:blipFill>
        </p:spPr>
      </p:sp>
      <p:sp>
        <p:nvSpPr>
          <p:cNvPr name="Freeform 58" id="58"/>
          <p:cNvSpPr/>
          <p:nvPr/>
        </p:nvSpPr>
        <p:spPr>
          <a:xfrm flipH="false" flipV="false" rot="0">
            <a:off x="3915262" y="4075256"/>
            <a:ext cx="273155" cy="320886"/>
          </a:xfrm>
          <a:custGeom>
            <a:avLst/>
            <a:gdLst/>
            <a:ahLst/>
            <a:cxnLst/>
            <a:rect r="r" b="b" t="t" l="l"/>
            <a:pathLst>
              <a:path h="320886" w="273155">
                <a:moveTo>
                  <a:pt x="0" y="0"/>
                </a:moveTo>
                <a:lnTo>
                  <a:pt x="273155" y="0"/>
                </a:lnTo>
                <a:lnTo>
                  <a:pt x="273155" y="320887"/>
                </a:lnTo>
                <a:lnTo>
                  <a:pt x="0" y="320887"/>
                </a:lnTo>
                <a:lnTo>
                  <a:pt x="0" y="0"/>
                </a:lnTo>
                <a:close/>
              </a:path>
            </a:pathLst>
          </a:custGeom>
          <a:blipFill>
            <a:blip r:embed="rId12"/>
            <a:stretch>
              <a:fillRect l="0" t="0" r="0" b="0"/>
            </a:stretch>
          </a:blipFill>
        </p:spPr>
      </p:sp>
      <p:grpSp>
        <p:nvGrpSpPr>
          <p:cNvPr name="Group 59" id="59"/>
          <p:cNvGrpSpPr/>
          <p:nvPr/>
        </p:nvGrpSpPr>
        <p:grpSpPr>
          <a:xfrm rot="0">
            <a:off x="5355315" y="10081693"/>
            <a:ext cx="2066265" cy="359339"/>
            <a:chOff x="0" y="0"/>
            <a:chExt cx="2755020" cy="479118"/>
          </a:xfrm>
        </p:grpSpPr>
        <p:sp>
          <p:nvSpPr>
            <p:cNvPr name="Freeform 60" id="60"/>
            <p:cNvSpPr/>
            <p:nvPr/>
          </p:nvSpPr>
          <p:spPr>
            <a:xfrm flipH="false" flipV="false" rot="0">
              <a:off x="177879" y="0"/>
              <a:ext cx="2308542" cy="479118"/>
            </a:xfrm>
            <a:custGeom>
              <a:avLst/>
              <a:gdLst/>
              <a:ahLst/>
              <a:cxnLst/>
              <a:rect r="r" b="b" t="t" l="l"/>
              <a:pathLst>
                <a:path h="479118" w="2308542">
                  <a:moveTo>
                    <a:pt x="0" y="0"/>
                  </a:moveTo>
                  <a:lnTo>
                    <a:pt x="2308541" y="0"/>
                  </a:lnTo>
                  <a:lnTo>
                    <a:pt x="2308541" y="479118"/>
                  </a:lnTo>
                  <a:lnTo>
                    <a:pt x="0" y="479118"/>
                  </a:lnTo>
                  <a:lnTo>
                    <a:pt x="0" y="0"/>
                  </a:lnTo>
                  <a:close/>
                </a:path>
              </a:pathLst>
            </a:custGeom>
            <a:blipFill>
              <a:blip r:embed="rId3"/>
              <a:stretch>
                <a:fillRect l="-6148" t="-743" r="-7638" b="0"/>
              </a:stretch>
            </a:blipFill>
          </p:spPr>
        </p:sp>
        <p:sp>
          <p:nvSpPr>
            <p:cNvPr name="TextBox 61" id="61"/>
            <p:cNvSpPr txBox="true"/>
            <p:nvPr/>
          </p:nvSpPr>
          <p:spPr>
            <a:xfrm rot="0">
              <a:off x="0" y="127894"/>
              <a:ext cx="2755020" cy="191769"/>
            </a:xfrm>
            <a:prstGeom prst="rect">
              <a:avLst/>
            </a:prstGeom>
          </p:spPr>
          <p:txBody>
            <a:bodyPr anchor="t" rtlCol="false" tIns="0" lIns="0" bIns="0" rIns="0">
              <a:spAutoFit/>
            </a:bodyPr>
            <a:lstStyle/>
            <a:p>
              <a:pPr algn="ctr">
                <a:lnSpc>
                  <a:spcPts val="1260"/>
                </a:lnSpc>
              </a:pPr>
              <a:r>
                <a:rPr lang="en-US" sz="900">
                  <a:solidFill>
                    <a:srgbClr val="FFFFFF"/>
                  </a:solidFill>
                  <a:latin typeface="Canva Sans"/>
                  <a:ea typeface="Canva Sans"/>
                  <a:cs typeface="Canva Sans"/>
                  <a:sym typeface="Canva Sans"/>
                </a:rPr>
                <a:t>sales@infinium.consulting</a:t>
              </a:r>
            </a:p>
          </p:txBody>
        </p:sp>
      </p:grpSp>
      <p:grpSp>
        <p:nvGrpSpPr>
          <p:cNvPr name="Group 62" id="62"/>
          <p:cNvGrpSpPr/>
          <p:nvPr/>
        </p:nvGrpSpPr>
        <p:grpSpPr>
          <a:xfrm rot="0">
            <a:off x="3771070" y="9002596"/>
            <a:ext cx="561540" cy="467539"/>
            <a:chOff x="0" y="0"/>
            <a:chExt cx="748720" cy="623386"/>
          </a:xfrm>
        </p:grpSpPr>
        <p:sp>
          <p:nvSpPr>
            <p:cNvPr name="Freeform 63" id="63"/>
            <p:cNvSpPr/>
            <p:nvPr/>
          </p:nvSpPr>
          <p:spPr>
            <a:xfrm flipH="false" flipV="false" rot="0">
              <a:off x="0" y="220013"/>
              <a:ext cx="748720" cy="403373"/>
            </a:xfrm>
            <a:custGeom>
              <a:avLst/>
              <a:gdLst/>
              <a:ahLst/>
              <a:cxnLst/>
              <a:rect r="r" b="b" t="t" l="l"/>
              <a:pathLst>
                <a:path h="403373" w="748720">
                  <a:moveTo>
                    <a:pt x="0" y="0"/>
                  </a:moveTo>
                  <a:lnTo>
                    <a:pt x="748720" y="0"/>
                  </a:lnTo>
                  <a:lnTo>
                    <a:pt x="748720" y="403373"/>
                  </a:lnTo>
                  <a:lnTo>
                    <a:pt x="0" y="40337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64" id="64"/>
            <p:cNvSpPr/>
            <p:nvPr/>
          </p:nvSpPr>
          <p:spPr>
            <a:xfrm flipH="false" flipV="false" rot="0">
              <a:off x="196997" y="0"/>
              <a:ext cx="343952" cy="366340"/>
            </a:xfrm>
            <a:custGeom>
              <a:avLst/>
              <a:gdLst/>
              <a:ahLst/>
              <a:cxnLst/>
              <a:rect r="r" b="b" t="t" l="l"/>
              <a:pathLst>
                <a:path h="366340" w="343952">
                  <a:moveTo>
                    <a:pt x="0" y="0"/>
                  </a:moveTo>
                  <a:lnTo>
                    <a:pt x="343952" y="0"/>
                  </a:lnTo>
                  <a:lnTo>
                    <a:pt x="343952" y="366340"/>
                  </a:lnTo>
                  <a:lnTo>
                    <a:pt x="0" y="366340"/>
                  </a:lnTo>
                  <a:lnTo>
                    <a:pt x="0" y="0"/>
                  </a:lnTo>
                  <a:close/>
                </a:path>
              </a:pathLst>
            </a:custGeom>
            <a:blipFill>
              <a:blip r:embed="rId15"/>
              <a:stretch>
                <a:fillRect l="0" t="0" r="0" b="0"/>
              </a:stretch>
            </a:blipFill>
          </p:spPr>
        </p:sp>
      </p:grpSp>
      <p:sp>
        <p:nvSpPr>
          <p:cNvPr name="Freeform 65" id="65"/>
          <p:cNvSpPr/>
          <p:nvPr/>
        </p:nvSpPr>
        <p:spPr>
          <a:xfrm flipH="false" flipV="false" rot="-5400000">
            <a:off x="3801888" y="6824517"/>
            <a:ext cx="569930" cy="188077"/>
          </a:xfrm>
          <a:custGeom>
            <a:avLst/>
            <a:gdLst/>
            <a:ahLst/>
            <a:cxnLst/>
            <a:rect r="r" b="b" t="t" l="l"/>
            <a:pathLst>
              <a:path h="188077" w="569930">
                <a:moveTo>
                  <a:pt x="0" y="0"/>
                </a:moveTo>
                <a:lnTo>
                  <a:pt x="569930" y="0"/>
                </a:lnTo>
                <a:lnTo>
                  <a:pt x="569930" y="188077"/>
                </a:lnTo>
                <a:lnTo>
                  <a:pt x="0" y="18807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66" id="66"/>
          <p:cNvSpPr/>
          <p:nvPr/>
        </p:nvSpPr>
        <p:spPr>
          <a:xfrm flipH="false" flipV="false" rot="0">
            <a:off x="106318" y="9628043"/>
            <a:ext cx="1731406" cy="316867"/>
          </a:xfrm>
          <a:custGeom>
            <a:avLst/>
            <a:gdLst/>
            <a:ahLst/>
            <a:cxnLst/>
            <a:rect r="r" b="b" t="t" l="l"/>
            <a:pathLst>
              <a:path h="316867" w="1731406">
                <a:moveTo>
                  <a:pt x="0" y="0"/>
                </a:moveTo>
                <a:lnTo>
                  <a:pt x="1731406" y="0"/>
                </a:lnTo>
                <a:lnTo>
                  <a:pt x="1731406" y="316867"/>
                </a:lnTo>
                <a:lnTo>
                  <a:pt x="0" y="316867"/>
                </a:lnTo>
                <a:lnTo>
                  <a:pt x="0" y="0"/>
                </a:lnTo>
                <a:close/>
              </a:path>
            </a:pathLst>
          </a:custGeom>
          <a:blipFill>
            <a:blip r:embed="rId18"/>
            <a:stretch>
              <a:fillRect l="-6148" t="-14246" r="-7638" b="0"/>
            </a:stretch>
          </a:blipFill>
        </p:spPr>
      </p:sp>
      <p:grpSp>
        <p:nvGrpSpPr>
          <p:cNvPr name="Group 67" id="67"/>
          <p:cNvGrpSpPr/>
          <p:nvPr/>
        </p:nvGrpSpPr>
        <p:grpSpPr>
          <a:xfrm rot="0">
            <a:off x="2341194" y="10045451"/>
            <a:ext cx="1159049" cy="358688"/>
            <a:chOff x="0" y="0"/>
            <a:chExt cx="415377" cy="128546"/>
          </a:xfrm>
        </p:grpSpPr>
        <p:sp>
          <p:nvSpPr>
            <p:cNvPr name="Freeform 68" id="68"/>
            <p:cNvSpPr/>
            <p:nvPr/>
          </p:nvSpPr>
          <p:spPr>
            <a:xfrm flipH="false" flipV="false" rot="0">
              <a:off x="0" y="0"/>
              <a:ext cx="415377" cy="128546"/>
            </a:xfrm>
            <a:custGeom>
              <a:avLst/>
              <a:gdLst/>
              <a:ahLst/>
              <a:cxnLst/>
              <a:rect r="r" b="b" t="t" l="l"/>
              <a:pathLst>
                <a:path h="128546" w="415377">
                  <a:moveTo>
                    <a:pt x="0" y="0"/>
                  </a:moveTo>
                  <a:lnTo>
                    <a:pt x="415377" y="0"/>
                  </a:lnTo>
                  <a:lnTo>
                    <a:pt x="415377" y="128546"/>
                  </a:lnTo>
                  <a:lnTo>
                    <a:pt x="0" y="128546"/>
                  </a:lnTo>
                  <a:close/>
                </a:path>
              </a:pathLst>
            </a:custGeom>
            <a:solidFill>
              <a:srgbClr val="000000"/>
            </a:solidFill>
          </p:spPr>
        </p:sp>
        <p:sp>
          <p:nvSpPr>
            <p:cNvPr name="TextBox 69" id="69"/>
            <p:cNvSpPr txBox="true"/>
            <p:nvPr/>
          </p:nvSpPr>
          <p:spPr>
            <a:xfrm>
              <a:off x="0" y="-28575"/>
              <a:ext cx="415377" cy="157121"/>
            </a:xfrm>
            <a:prstGeom prst="rect">
              <a:avLst/>
            </a:prstGeom>
          </p:spPr>
          <p:txBody>
            <a:bodyPr anchor="ctr" rtlCol="false" tIns="50800" lIns="50800" bIns="50800" rIns="50800"/>
            <a:lstStyle/>
            <a:p>
              <a:pPr algn="ctr">
                <a:lnSpc>
                  <a:spcPts val="1960"/>
                </a:lnSpc>
              </a:pPr>
            </a:p>
          </p:txBody>
        </p:sp>
      </p:grpSp>
      <p:sp>
        <p:nvSpPr>
          <p:cNvPr name="Freeform 70" id="70"/>
          <p:cNvSpPr/>
          <p:nvPr/>
        </p:nvSpPr>
        <p:spPr>
          <a:xfrm flipH="false" flipV="false" rot="0">
            <a:off x="5404596" y="10173029"/>
            <a:ext cx="211631" cy="149200"/>
          </a:xfrm>
          <a:custGeom>
            <a:avLst/>
            <a:gdLst/>
            <a:ahLst/>
            <a:cxnLst/>
            <a:rect r="r" b="b" t="t" l="l"/>
            <a:pathLst>
              <a:path h="149200" w="211631">
                <a:moveTo>
                  <a:pt x="0" y="0"/>
                </a:moveTo>
                <a:lnTo>
                  <a:pt x="211631" y="0"/>
                </a:lnTo>
                <a:lnTo>
                  <a:pt x="211631" y="149199"/>
                </a:lnTo>
                <a:lnTo>
                  <a:pt x="0" y="149199"/>
                </a:lnTo>
                <a:lnTo>
                  <a:pt x="0" y="0"/>
                </a:lnTo>
                <a:close/>
              </a:path>
            </a:pathLst>
          </a:custGeom>
          <a:blipFill>
            <a:blip r:embed="rId19"/>
            <a:stretch>
              <a:fillRect l="0" t="0" r="0" b="0"/>
            </a:stretch>
          </a:blipFill>
        </p:spPr>
      </p:sp>
      <p:sp>
        <p:nvSpPr>
          <p:cNvPr name="Freeform 71" id="71"/>
          <p:cNvSpPr/>
          <p:nvPr/>
        </p:nvSpPr>
        <p:spPr>
          <a:xfrm flipH="false" flipV="false" rot="0">
            <a:off x="3908704" y="8090146"/>
            <a:ext cx="333921" cy="302616"/>
          </a:xfrm>
          <a:custGeom>
            <a:avLst/>
            <a:gdLst/>
            <a:ahLst/>
            <a:cxnLst/>
            <a:rect r="r" b="b" t="t" l="l"/>
            <a:pathLst>
              <a:path h="302616" w="333921">
                <a:moveTo>
                  <a:pt x="0" y="0"/>
                </a:moveTo>
                <a:lnTo>
                  <a:pt x="333921" y="0"/>
                </a:lnTo>
                <a:lnTo>
                  <a:pt x="333921" y="302615"/>
                </a:lnTo>
                <a:lnTo>
                  <a:pt x="0" y="302615"/>
                </a:lnTo>
                <a:lnTo>
                  <a:pt x="0" y="0"/>
                </a:lnTo>
                <a:close/>
              </a:path>
            </a:pathLst>
          </a:custGeom>
          <a:blipFill>
            <a:blip r:embed="rId20"/>
            <a:stretch>
              <a:fillRect l="0" t="0" r="0" b="0"/>
            </a:stretch>
          </a:blipFill>
        </p:spPr>
      </p:sp>
      <p:sp>
        <p:nvSpPr>
          <p:cNvPr name="Freeform 72" id="72"/>
          <p:cNvSpPr/>
          <p:nvPr/>
        </p:nvSpPr>
        <p:spPr>
          <a:xfrm flipH="false" flipV="false" rot="0">
            <a:off x="3875225" y="4687607"/>
            <a:ext cx="400760" cy="335135"/>
          </a:xfrm>
          <a:custGeom>
            <a:avLst/>
            <a:gdLst/>
            <a:ahLst/>
            <a:cxnLst/>
            <a:rect r="r" b="b" t="t" l="l"/>
            <a:pathLst>
              <a:path h="335135" w="400760">
                <a:moveTo>
                  <a:pt x="0" y="0"/>
                </a:moveTo>
                <a:lnTo>
                  <a:pt x="400760" y="0"/>
                </a:lnTo>
                <a:lnTo>
                  <a:pt x="400760" y="335136"/>
                </a:lnTo>
                <a:lnTo>
                  <a:pt x="0" y="335136"/>
                </a:lnTo>
                <a:lnTo>
                  <a:pt x="0" y="0"/>
                </a:lnTo>
                <a:close/>
              </a:path>
            </a:pathLst>
          </a:custGeom>
          <a:blipFill>
            <a:blip r:embed="rId21"/>
            <a:stretch>
              <a:fillRect l="0" t="0" r="0" b="0"/>
            </a:stretch>
          </a:blipFill>
        </p:spPr>
      </p:sp>
      <p:grpSp>
        <p:nvGrpSpPr>
          <p:cNvPr name="Group 73" id="73"/>
          <p:cNvGrpSpPr/>
          <p:nvPr/>
        </p:nvGrpSpPr>
        <p:grpSpPr>
          <a:xfrm rot="0">
            <a:off x="3780000" y="5848742"/>
            <a:ext cx="3641580" cy="621524"/>
            <a:chOff x="0" y="0"/>
            <a:chExt cx="1305060" cy="222740"/>
          </a:xfrm>
        </p:grpSpPr>
        <p:sp>
          <p:nvSpPr>
            <p:cNvPr name="Freeform 74" id="74"/>
            <p:cNvSpPr/>
            <p:nvPr/>
          </p:nvSpPr>
          <p:spPr>
            <a:xfrm flipH="false" flipV="false" rot="0">
              <a:off x="0" y="0"/>
              <a:ext cx="1305060" cy="222740"/>
            </a:xfrm>
            <a:custGeom>
              <a:avLst/>
              <a:gdLst/>
              <a:ahLst/>
              <a:cxnLst/>
              <a:rect r="r" b="b" t="t" l="l"/>
              <a:pathLst>
                <a:path h="222740" w="1305060">
                  <a:moveTo>
                    <a:pt x="0" y="0"/>
                  </a:moveTo>
                  <a:lnTo>
                    <a:pt x="1305060" y="0"/>
                  </a:lnTo>
                  <a:lnTo>
                    <a:pt x="1305060" y="222740"/>
                  </a:lnTo>
                  <a:lnTo>
                    <a:pt x="0" y="222740"/>
                  </a:lnTo>
                  <a:close/>
                </a:path>
              </a:pathLst>
            </a:custGeom>
            <a:solidFill>
              <a:srgbClr val="D9D9D9">
                <a:alpha val="58824"/>
              </a:srgbClr>
            </a:solidFill>
          </p:spPr>
        </p:sp>
        <p:sp>
          <p:nvSpPr>
            <p:cNvPr name="TextBox 75" id="75"/>
            <p:cNvSpPr txBox="true"/>
            <p:nvPr/>
          </p:nvSpPr>
          <p:spPr>
            <a:xfrm>
              <a:off x="0" y="-28575"/>
              <a:ext cx="1305060" cy="251315"/>
            </a:xfrm>
            <a:prstGeom prst="rect">
              <a:avLst/>
            </a:prstGeom>
          </p:spPr>
          <p:txBody>
            <a:bodyPr anchor="ctr" rtlCol="false" tIns="50800" lIns="50800" bIns="50800" rIns="50800"/>
            <a:lstStyle/>
            <a:p>
              <a:pPr algn="ctr">
                <a:lnSpc>
                  <a:spcPts val="1960"/>
                </a:lnSpc>
              </a:pPr>
            </a:p>
          </p:txBody>
        </p:sp>
      </p:grpSp>
      <p:sp>
        <p:nvSpPr>
          <p:cNvPr name="Freeform 76" id="76"/>
          <p:cNvSpPr/>
          <p:nvPr/>
        </p:nvSpPr>
        <p:spPr>
          <a:xfrm flipH="false" flipV="false" rot="0">
            <a:off x="3792435" y="6020692"/>
            <a:ext cx="513940" cy="278124"/>
          </a:xfrm>
          <a:custGeom>
            <a:avLst/>
            <a:gdLst/>
            <a:ahLst/>
            <a:cxnLst/>
            <a:rect r="r" b="b" t="t" l="l"/>
            <a:pathLst>
              <a:path h="278124" w="513940">
                <a:moveTo>
                  <a:pt x="0" y="0"/>
                </a:moveTo>
                <a:lnTo>
                  <a:pt x="513940" y="0"/>
                </a:lnTo>
                <a:lnTo>
                  <a:pt x="513940" y="278124"/>
                </a:lnTo>
                <a:lnTo>
                  <a:pt x="0" y="278124"/>
                </a:lnTo>
                <a:lnTo>
                  <a:pt x="0" y="0"/>
                </a:lnTo>
                <a:close/>
              </a:path>
            </a:pathLst>
          </a:custGeom>
          <a:blipFill>
            <a:blip r:embed="rId22"/>
            <a:stretch>
              <a:fillRect l="-3546" t="-3336" r="0" b="-3336"/>
            </a:stretch>
          </a:blipFill>
        </p:spPr>
      </p:sp>
      <p:sp>
        <p:nvSpPr>
          <p:cNvPr name="Freeform 77" id="77"/>
          <p:cNvSpPr/>
          <p:nvPr/>
        </p:nvSpPr>
        <p:spPr>
          <a:xfrm flipH="false" flipV="false" rot="0">
            <a:off x="3897720" y="5243346"/>
            <a:ext cx="378265" cy="424421"/>
          </a:xfrm>
          <a:custGeom>
            <a:avLst/>
            <a:gdLst/>
            <a:ahLst/>
            <a:cxnLst/>
            <a:rect r="r" b="b" t="t" l="l"/>
            <a:pathLst>
              <a:path h="424421" w="378265">
                <a:moveTo>
                  <a:pt x="0" y="0"/>
                </a:moveTo>
                <a:lnTo>
                  <a:pt x="378265" y="0"/>
                </a:lnTo>
                <a:lnTo>
                  <a:pt x="378265" y="424421"/>
                </a:lnTo>
                <a:lnTo>
                  <a:pt x="0" y="424421"/>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78" id="78"/>
          <p:cNvGrpSpPr/>
          <p:nvPr/>
        </p:nvGrpSpPr>
        <p:grpSpPr>
          <a:xfrm rot="0">
            <a:off x="3765177" y="7329557"/>
            <a:ext cx="3641580" cy="621524"/>
            <a:chOff x="0" y="0"/>
            <a:chExt cx="1305060" cy="222740"/>
          </a:xfrm>
        </p:grpSpPr>
        <p:sp>
          <p:nvSpPr>
            <p:cNvPr name="Freeform 79" id="79"/>
            <p:cNvSpPr/>
            <p:nvPr/>
          </p:nvSpPr>
          <p:spPr>
            <a:xfrm flipH="false" flipV="false" rot="0">
              <a:off x="0" y="0"/>
              <a:ext cx="1305060" cy="222740"/>
            </a:xfrm>
            <a:custGeom>
              <a:avLst/>
              <a:gdLst/>
              <a:ahLst/>
              <a:cxnLst/>
              <a:rect r="r" b="b" t="t" l="l"/>
              <a:pathLst>
                <a:path h="222740" w="1305060">
                  <a:moveTo>
                    <a:pt x="0" y="0"/>
                  </a:moveTo>
                  <a:lnTo>
                    <a:pt x="1305060" y="0"/>
                  </a:lnTo>
                  <a:lnTo>
                    <a:pt x="1305060" y="222740"/>
                  </a:lnTo>
                  <a:lnTo>
                    <a:pt x="0" y="222740"/>
                  </a:lnTo>
                  <a:close/>
                </a:path>
              </a:pathLst>
            </a:custGeom>
            <a:solidFill>
              <a:srgbClr val="D9D9D9">
                <a:alpha val="58824"/>
              </a:srgbClr>
            </a:solidFill>
          </p:spPr>
        </p:sp>
        <p:sp>
          <p:nvSpPr>
            <p:cNvPr name="TextBox 80" id="80"/>
            <p:cNvSpPr txBox="true"/>
            <p:nvPr/>
          </p:nvSpPr>
          <p:spPr>
            <a:xfrm>
              <a:off x="0" y="-28575"/>
              <a:ext cx="1305060" cy="251315"/>
            </a:xfrm>
            <a:prstGeom prst="rect">
              <a:avLst/>
            </a:prstGeom>
          </p:spPr>
          <p:txBody>
            <a:bodyPr anchor="ctr" rtlCol="false" tIns="50800" lIns="50800" bIns="50800" rIns="50800"/>
            <a:lstStyle/>
            <a:p>
              <a:pPr algn="ctr">
                <a:lnSpc>
                  <a:spcPts val="1960"/>
                </a:lnSpc>
              </a:pPr>
            </a:p>
          </p:txBody>
        </p:sp>
      </p:grpSp>
      <p:sp>
        <p:nvSpPr>
          <p:cNvPr name="Freeform 81" id="81"/>
          <p:cNvSpPr/>
          <p:nvPr/>
        </p:nvSpPr>
        <p:spPr>
          <a:xfrm flipH="false" flipV="false" rot="0">
            <a:off x="3931080" y="7447605"/>
            <a:ext cx="311545" cy="369786"/>
          </a:xfrm>
          <a:custGeom>
            <a:avLst/>
            <a:gdLst/>
            <a:ahLst/>
            <a:cxnLst/>
            <a:rect r="r" b="b" t="t" l="l"/>
            <a:pathLst>
              <a:path h="369786" w="311545">
                <a:moveTo>
                  <a:pt x="0" y="0"/>
                </a:moveTo>
                <a:lnTo>
                  <a:pt x="311545" y="0"/>
                </a:lnTo>
                <a:lnTo>
                  <a:pt x="311545" y="369786"/>
                </a:lnTo>
                <a:lnTo>
                  <a:pt x="0" y="369786"/>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82" id="82"/>
          <p:cNvSpPr/>
          <p:nvPr/>
        </p:nvSpPr>
        <p:spPr>
          <a:xfrm flipH="false" flipV="false" rot="0">
            <a:off x="4003437" y="7566739"/>
            <a:ext cx="177454" cy="174792"/>
          </a:xfrm>
          <a:custGeom>
            <a:avLst/>
            <a:gdLst/>
            <a:ahLst/>
            <a:cxnLst/>
            <a:rect r="r" b="b" t="t" l="l"/>
            <a:pathLst>
              <a:path h="174792" w="177454">
                <a:moveTo>
                  <a:pt x="0" y="0"/>
                </a:moveTo>
                <a:lnTo>
                  <a:pt x="177454" y="0"/>
                </a:lnTo>
                <a:lnTo>
                  <a:pt x="177454" y="174792"/>
                </a:lnTo>
                <a:lnTo>
                  <a:pt x="0" y="174792"/>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83" id="83"/>
          <p:cNvSpPr/>
          <p:nvPr/>
        </p:nvSpPr>
        <p:spPr>
          <a:xfrm flipH="false" flipV="false" rot="0">
            <a:off x="6917213" y="2685836"/>
            <a:ext cx="340022" cy="426360"/>
          </a:xfrm>
          <a:custGeom>
            <a:avLst/>
            <a:gdLst/>
            <a:ahLst/>
            <a:cxnLst/>
            <a:rect r="r" b="b" t="t" l="l"/>
            <a:pathLst>
              <a:path h="426360" w="340022">
                <a:moveTo>
                  <a:pt x="0" y="0"/>
                </a:moveTo>
                <a:lnTo>
                  <a:pt x="340022" y="0"/>
                </a:lnTo>
                <a:lnTo>
                  <a:pt x="340022" y="426360"/>
                </a:lnTo>
                <a:lnTo>
                  <a:pt x="0" y="426360"/>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84" id="84"/>
          <p:cNvSpPr/>
          <p:nvPr/>
        </p:nvSpPr>
        <p:spPr>
          <a:xfrm flipH="false" flipV="false" rot="0">
            <a:off x="4962700" y="469986"/>
            <a:ext cx="1896338" cy="1703256"/>
          </a:xfrm>
          <a:custGeom>
            <a:avLst/>
            <a:gdLst/>
            <a:ahLst/>
            <a:cxnLst/>
            <a:rect r="r" b="b" t="t" l="l"/>
            <a:pathLst>
              <a:path h="1703256" w="1896338">
                <a:moveTo>
                  <a:pt x="0" y="0"/>
                </a:moveTo>
                <a:lnTo>
                  <a:pt x="1896337" y="0"/>
                </a:lnTo>
                <a:lnTo>
                  <a:pt x="1896337" y="1703256"/>
                </a:lnTo>
                <a:lnTo>
                  <a:pt x="0" y="1703256"/>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TextBox 85" id="85"/>
          <p:cNvSpPr txBox="true"/>
          <p:nvPr/>
        </p:nvSpPr>
        <p:spPr>
          <a:xfrm rot="0">
            <a:off x="-580842" y="3608151"/>
            <a:ext cx="3235495" cy="407670"/>
          </a:xfrm>
          <a:prstGeom prst="rect">
            <a:avLst/>
          </a:prstGeom>
        </p:spPr>
        <p:txBody>
          <a:bodyPr anchor="t" rtlCol="false" tIns="0" lIns="0" bIns="0" rIns="0">
            <a:spAutoFit/>
          </a:bodyPr>
          <a:lstStyle/>
          <a:p>
            <a:pPr algn="ctr">
              <a:lnSpc>
                <a:spcPts val="1680"/>
              </a:lnSpc>
              <a:spcBef>
                <a:spcPct val="0"/>
              </a:spcBef>
            </a:pPr>
            <a:r>
              <a:rPr lang="en-US" b="true" sz="1200">
                <a:solidFill>
                  <a:srgbClr val="000000"/>
                </a:solidFill>
                <a:latin typeface="Canva Sans Bold"/>
                <a:ea typeface="Canva Sans Bold"/>
                <a:cs typeface="Canva Sans Bold"/>
                <a:sym typeface="Canva Sans Bold"/>
              </a:rPr>
              <a:t>The Data Challenge</a:t>
            </a:r>
          </a:p>
          <a:p>
            <a:pPr algn="ctr">
              <a:lnSpc>
                <a:spcPts val="1680"/>
              </a:lnSpc>
              <a:spcBef>
                <a:spcPct val="0"/>
              </a:spcBef>
            </a:pPr>
          </a:p>
        </p:txBody>
      </p:sp>
      <p:sp>
        <p:nvSpPr>
          <p:cNvPr name="TextBox 86" id="86"/>
          <p:cNvSpPr txBox="true"/>
          <p:nvPr/>
        </p:nvSpPr>
        <p:spPr>
          <a:xfrm rot="0">
            <a:off x="316999" y="3801321"/>
            <a:ext cx="3460085" cy="3863339"/>
          </a:xfrm>
          <a:prstGeom prst="rect">
            <a:avLst/>
          </a:prstGeom>
        </p:spPr>
        <p:txBody>
          <a:bodyPr anchor="t" rtlCol="false" tIns="0" lIns="0" bIns="0" rIns="0">
            <a:spAutoFit/>
          </a:bodyPr>
          <a:lstStyle/>
          <a:p>
            <a:pPr algn="l">
              <a:lnSpc>
                <a:spcPts val="1260"/>
              </a:lnSpc>
            </a:pPr>
            <a:r>
              <a:rPr lang="en-US" sz="900">
                <a:solidFill>
                  <a:srgbClr val="000000"/>
                </a:solidFill>
                <a:latin typeface="Canva Sans"/>
                <a:ea typeface="Canva Sans"/>
                <a:cs typeface="Canva Sans"/>
                <a:sym typeface="Canva Sans"/>
              </a:rPr>
              <a:t>The need for high quality, governed and trusted data has never been higher. As organisations try to leverage their data for ever complex use cases and try to realise a competitive advantage with A.I. the demand for accurate data is only going to accelerate. In 2025, an MIT report showed that as many as 95% of A.I. related use cases were failing. The primary reason? Poor data quality and a lack of metadata management.</a:t>
            </a:r>
          </a:p>
          <a:p>
            <a:pPr algn="l">
              <a:lnSpc>
                <a:spcPts val="1260"/>
              </a:lnSpc>
            </a:pPr>
          </a:p>
          <a:p>
            <a:pPr algn="l">
              <a:lnSpc>
                <a:spcPts val="1260"/>
              </a:lnSpc>
            </a:pPr>
            <a:r>
              <a:rPr lang="en-US" sz="900">
                <a:solidFill>
                  <a:srgbClr val="000000"/>
                </a:solidFill>
                <a:latin typeface="Canva Sans"/>
                <a:ea typeface="Canva Sans"/>
                <a:cs typeface="Canva Sans"/>
                <a:sym typeface="Canva Sans"/>
              </a:rPr>
              <a:t>We recognised early on that without the right infrastructure and high quality data, organisations would struggle to get value from A.I. and the latest technologies. This is why we designed and built QBricks.</a:t>
            </a:r>
          </a:p>
          <a:p>
            <a:pPr algn="l">
              <a:lnSpc>
                <a:spcPts val="1260"/>
              </a:lnSpc>
            </a:pPr>
          </a:p>
          <a:p>
            <a:pPr algn="l">
              <a:lnSpc>
                <a:spcPts val="1680"/>
              </a:lnSpc>
            </a:pPr>
            <a:r>
              <a:rPr lang="en-US" sz="1200" b="true">
                <a:solidFill>
                  <a:srgbClr val="000000"/>
                </a:solidFill>
                <a:latin typeface="Canva Sans Bold"/>
                <a:ea typeface="Canva Sans Bold"/>
                <a:cs typeface="Canva Sans Bold"/>
                <a:sym typeface="Canva Sans Bold"/>
              </a:rPr>
              <a:t>Introducing QBricks</a:t>
            </a:r>
          </a:p>
          <a:p>
            <a:pPr algn="l">
              <a:lnSpc>
                <a:spcPts val="1260"/>
              </a:lnSpc>
            </a:pPr>
          </a:p>
          <a:p>
            <a:pPr algn="l">
              <a:lnSpc>
                <a:spcPts val="1260"/>
              </a:lnSpc>
            </a:pPr>
            <a:r>
              <a:rPr lang="en-US" sz="900">
                <a:solidFill>
                  <a:srgbClr val="000000"/>
                </a:solidFill>
                <a:latin typeface="Canva Sans"/>
                <a:ea typeface="Canva Sans"/>
                <a:cs typeface="Canva Sans"/>
                <a:sym typeface="Canva Sans"/>
              </a:rPr>
              <a:t>QBricks enables the development and deployment of data quality and ETL workflows via the use of Data Contracts. It is an enterprise grade, cloud agnostic, and agentic enabled solution which provides significant time savings when compared to manually developed and deployed workflows.</a:t>
            </a:r>
          </a:p>
          <a:p>
            <a:pPr algn="l">
              <a:lnSpc>
                <a:spcPts val="1260"/>
              </a:lnSpc>
            </a:pPr>
          </a:p>
          <a:p>
            <a:pPr algn="l">
              <a:lnSpc>
                <a:spcPts val="1260"/>
              </a:lnSpc>
            </a:pPr>
            <a:r>
              <a:rPr lang="en-US" sz="900">
                <a:solidFill>
                  <a:srgbClr val="000000"/>
                </a:solidFill>
                <a:latin typeface="Canva Sans"/>
                <a:ea typeface="Canva Sans"/>
                <a:cs typeface="Canva Sans"/>
                <a:sym typeface="Canva Sans"/>
              </a:rPr>
              <a:t>Experience streamlined, efficient, and reliable Databricks and Microsoft Fabric workload deployments with QBricks.</a:t>
            </a:r>
          </a:p>
          <a:p>
            <a:pPr algn="l">
              <a:lnSpc>
                <a:spcPts val="1260"/>
              </a:lnSpc>
            </a:pPr>
          </a:p>
          <a:p>
            <a:pPr algn="l">
              <a:lnSpc>
                <a:spcPts val="1260"/>
              </a:lnSpc>
              <a:spcBef>
                <a:spcPct val="0"/>
              </a:spcBef>
            </a:pPr>
          </a:p>
        </p:txBody>
      </p:sp>
      <p:sp>
        <p:nvSpPr>
          <p:cNvPr name="TextBox 87" id="87"/>
          <p:cNvSpPr txBox="true"/>
          <p:nvPr/>
        </p:nvSpPr>
        <p:spPr>
          <a:xfrm rot="0">
            <a:off x="3595267" y="5189117"/>
            <a:ext cx="3163495" cy="148590"/>
          </a:xfrm>
          <a:prstGeom prst="rect">
            <a:avLst/>
          </a:prstGeom>
        </p:spPr>
        <p:txBody>
          <a:bodyPr anchor="t" rtlCol="false" tIns="0" lIns="0" bIns="0" rIns="0">
            <a:spAutoFit/>
          </a:bodyPr>
          <a:lstStyle/>
          <a:p>
            <a:pPr algn="ctr">
              <a:lnSpc>
                <a:spcPts val="1260"/>
              </a:lnSpc>
              <a:spcBef>
                <a:spcPct val="0"/>
              </a:spcBef>
            </a:pPr>
            <a:r>
              <a:rPr lang="en-US" b="true" sz="900">
                <a:solidFill>
                  <a:srgbClr val="000000"/>
                </a:solidFill>
                <a:latin typeface="Canva Sans Bold"/>
                <a:ea typeface="Canva Sans Bold"/>
                <a:cs typeface="Canva Sans Bold"/>
                <a:sym typeface="Canva Sans Bold"/>
              </a:rPr>
              <a:t>Flexible Deployment Options</a:t>
            </a:r>
          </a:p>
        </p:txBody>
      </p:sp>
      <p:sp>
        <p:nvSpPr>
          <p:cNvPr name="TextBox 88" id="88"/>
          <p:cNvSpPr txBox="true"/>
          <p:nvPr/>
        </p:nvSpPr>
        <p:spPr>
          <a:xfrm rot="0">
            <a:off x="4368861" y="8862138"/>
            <a:ext cx="2057686" cy="1312847"/>
          </a:xfrm>
          <a:prstGeom prst="rect">
            <a:avLst/>
          </a:prstGeom>
        </p:spPr>
        <p:txBody>
          <a:bodyPr anchor="t" rtlCol="false" tIns="0" lIns="0" bIns="0" rIns="0">
            <a:spAutoFit/>
          </a:bodyPr>
          <a:lstStyle/>
          <a:p>
            <a:pPr algn="l">
              <a:lnSpc>
                <a:spcPts val="1093"/>
              </a:lnSpc>
            </a:pPr>
            <a:r>
              <a:rPr lang="en-US" sz="781">
                <a:solidFill>
                  <a:srgbClr val="000000"/>
                </a:solidFill>
                <a:latin typeface="Canva Sans"/>
                <a:ea typeface="Canva Sans"/>
                <a:cs typeface="Canva Sans"/>
                <a:sym typeface="Canva Sans"/>
              </a:rPr>
              <a:t>QBricks interfaces with Quantexa. If your organisation uses Quantexa, QBricks can ingest the trust score and embed it in the data assets and data product, for use across the organisation. Assure 99% data matching accuracy with Quantexa.</a:t>
            </a:r>
          </a:p>
          <a:p>
            <a:pPr algn="l">
              <a:lnSpc>
                <a:spcPts val="1093"/>
              </a:lnSpc>
            </a:pPr>
          </a:p>
          <a:p>
            <a:pPr algn="l">
              <a:lnSpc>
                <a:spcPts val="1093"/>
              </a:lnSpc>
            </a:pPr>
          </a:p>
          <a:p>
            <a:pPr algn="l">
              <a:lnSpc>
                <a:spcPts val="1093"/>
              </a:lnSpc>
            </a:pPr>
          </a:p>
          <a:p>
            <a:pPr algn="l">
              <a:lnSpc>
                <a:spcPts val="1093"/>
              </a:lnSpc>
              <a:spcBef>
                <a:spcPct val="0"/>
              </a:spcBef>
            </a:pPr>
          </a:p>
        </p:txBody>
      </p:sp>
      <p:sp>
        <p:nvSpPr>
          <p:cNvPr name="TextBox 89" id="89"/>
          <p:cNvSpPr txBox="true"/>
          <p:nvPr/>
        </p:nvSpPr>
        <p:spPr>
          <a:xfrm rot="0">
            <a:off x="4320073" y="8141581"/>
            <a:ext cx="3136544" cy="940032"/>
          </a:xfrm>
          <a:prstGeom prst="rect">
            <a:avLst/>
          </a:prstGeom>
        </p:spPr>
        <p:txBody>
          <a:bodyPr anchor="t" rtlCol="false" tIns="0" lIns="0" bIns="0" rIns="0">
            <a:spAutoFit/>
          </a:bodyPr>
          <a:lstStyle/>
          <a:p>
            <a:pPr algn="l">
              <a:lnSpc>
                <a:spcPts val="980"/>
              </a:lnSpc>
            </a:pPr>
            <a:r>
              <a:rPr lang="en-US" sz="700">
                <a:solidFill>
                  <a:srgbClr val="000000"/>
                </a:solidFill>
                <a:latin typeface="Canva Sans"/>
                <a:ea typeface="Canva Sans"/>
                <a:cs typeface="Canva Sans"/>
                <a:sym typeface="Canva Sans"/>
              </a:rPr>
              <a:t>QBricks significantly automates the metadata management process. Once deployed, agents learn, track decision lineage and continually improve the process. Everything is auditable and the human remains in the loop.</a:t>
            </a:r>
          </a:p>
          <a:p>
            <a:pPr algn="l">
              <a:lnSpc>
                <a:spcPts val="980"/>
              </a:lnSpc>
            </a:pPr>
          </a:p>
          <a:p>
            <a:pPr algn="l">
              <a:lnSpc>
                <a:spcPts val="980"/>
              </a:lnSpc>
            </a:pPr>
          </a:p>
          <a:p>
            <a:pPr algn="l">
              <a:lnSpc>
                <a:spcPts val="980"/>
              </a:lnSpc>
            </a:pPr>
          </a:p>
          <a:p>
            <a:pPr algn="l">
              <a:lnSpc>
                <a:spcPts val="980"/>
              </a:lnSpc>
              <a:spcBef>
                <a:spcPct val="0"/>
              </a:spcBef>
            </a:pPr>
          </a:p>
        </p:txBody>
      </p:sp>
      <p:sp>
        <p:nvSpPr>
          <p:cNvPr name="TextBox 90" id="90"/>
          <p:cNvSpPr txBox="true"/>
          <p:nvPr/>
        </p:nvSpPr>
        <p:spPr>
          <a:xfrm rot="0">
            <a:off x="3623543" y="8686906"/>
            <a:ext cx="3235495" cy="148590"/>
          </a:xfrm>
          <a:prstGeom prst="rect">
            <a:avLst/>
          </a:prstGeom>
        </p:spPr>
        <p:txBody>
          <a:bodyPr anchor="t" rtlCol="false" tIns="0" lIns="0" bIns="0" rIns="0">
            <a:spAutoFit/>
          </a:bodyPr>
          <a:lstStyle/>
          <a:p>
            <a:pPr algn="ctr">
              <a:lnSpc>
                <a:spcPts val="1260"/>
              </a:lnSpc>
              <a:spcBef>
                <a:spcPct val="0"/>
              </a:spcBef>
            </a:pPr>
            <a:r>
              <a:rPr lang="en-US" b="true" sz="900">
                <a:solidFill>
                  <a:srgbClr val="000000"/>
                </a:solidFill>
                <a:latin typeface="Canva Sans Bold"/>
                <a:ea typeface="Canva Sans Bold"/>
                <a:cs typeface="Canva Sans Bold"/>
                <a:sym typeface="Canva Sans Bold"/>
              </a:rPr>
              <a:t>Embeded Quantexa Trust Score</a:t>
            </a:r>
          </a:p>
        </p:txBody>
      </p:sp>
      <p:sp>
        <p:nvSpPr>
          <p:cNvPr name="TextBox 91" id="91"/>
          <p:cNvSpPr txBox="true"/>
          <p:nvPr/>
        </p:nvSpPr>
        <p:spPr>
          <a:xfrm rot="0">
            <a:off x="344802" y="875390"/>
            <a:ext cx="1541562" cy="264159"/>
          </a:xfrm>
          <a:prstGeom prst="rect">
            <a:avLst/>
          </a:prstGeom>
        </p:spPr>
        <p:txBody>
          <a:bodyPr anchor="t" rtlCol="false" tIns="0" lIns="0" bIns="0" rIns="0">
            <a:spAutoFit/>
          </a:bodyPr>
          <a:lstStyle/>
          <a:p>
            <a:pPr algn="ctr">
              <a:lnSpc>
                <a:spcPts val="2240"/>
              </a:lnSpc>
            </a:pPr>
            <a:r>
              <a:rPr lang="en-US" b="true" sz="1600">
                <a:solidFill>
                  <a:srgbClr val="FF0000"/>
                </a:solidFill>
                <a:latin typeface="Montserrat Bold"/>
                <a:ea typeface="Montserrat Bold"/>
                <a:cs typeface="Montserrat Bold"/>
                <a:sym typeface="Montserrat Bold"/>
              </a:rPr>
              <a:t>INTRODUCING</a:t>
            </a:r>
          </a:p>
        </p:txBody>
      </p:sp>
      <p:sp>
        <p:nvSpPr>
          <p:cNvPr name="TextBox 92" id="92"/>
          <p:cNvSpPr txBox="true"/>
          <p:nvPr/>
        </p:nvSpPr>
        <p:spPr>
          <a:xfrm rot="0">
            <a:off x="298899" y="1260833"/>
            <a:ext cx="1431280" cy="528320"/>
          </a:xfrm>
          <a:prstGeom prst="rect">
            <a:avLst/>
          </a:prstGeom>
        </p:spPr>
        <p:txBody>
          <a:bodyPr anchor="t" rtlCol="false" tIns="0" lIns="0" bIns="0" rIns="0">
            <a:spAutoFit/>
          </a:bodyPr>
          <a:lstStyle/>
          <a:p>
            <a:pPr algn="ctr">
              <a:lnSpc>
                <a:spcPts val="4480"/>
              </a:lnSpc>
            </a:pPr>
            <a:r>
              <a:rPr lang="en-US" sz="3200" b="true">
                <a:solidFill>
                  <a:srgbClr val="FF1E27"/>
                </a:solidFill>
                <a:latin typeface="Quicksand Bold"/>
                <a:ea typeface="Quicksand Bold"/>
                <a:cs typeface="Quicksand Bold"/>
                <a:sym typeface="Quicksand Bold"/>
              </a:rPr>
              <a:t>Q</a:t>
            </a:r>
            <a:r>
              <a:rPr lang="en-US" sz="3200">
                <a:solidFill>
                  <a:srgbClr val="FFFFFF"/>
                </a:solidFill>
                <a:latin typeface="Quicksand"/>
                <a:ea typeface="Quicksand"/>
                <a:cs typeface="Quicksand"/>
                <a:sym typeface="Quicksand"/>
              </a:rPr>
              <a:t>Bricks</a:t>
            </a:r>
          </a:p>
        </p:txBody>
      </p:sp>
      <p:sp>
        <p:nvSpPr>
          <p:cNvPr name="TextBox 93" id="93"/>
          <p:cNvSpPr txBox="true"/>
          <p:nvPr/>
        </p:nvSpPr>
        <p:spPr>
          <a:xfrm rot="0">
            <a:off x="-2024541" y="1727473"/>
            <a:ext cx="7989644" cy="407669"/>
          </a:xfrm>
          <a:prstGeom prst="rect">
            <a:avLst/>
          </a:prstGeom>
        </p:spPr>
        <p:txBody>
          <a:bodyPr anchor="t" rtlCol="false" tIns="0" lIns="0" bIns="0" rIns="0">
            <a:spAutoFit/>
          </a:bodyPr>
          <a:lstStyle/>
          <a:p>
            <a:pPr algn="ctr">
              <a:lnSpc>
                <a:spcPts val="1680"/>
              </a:lnSpc>
            </a:pPr>
            <a:r>
              <a:rPr lang="en-US" sz="1200">
                <a:solidFill>
                  <a:srgbClr val="FFFFFF"/>
                </a:solidFill>
                <a:latin typeface="Canva Sans"/>
                <a:ea typeface="Canva Sans"/>
                <a:cs typeface="Canva Sans"/>
                <a:sym typeface="Canva Sans"/>
              </a:rPr>
              <a:t>A.I. enabled metadata management </a:t>
            </a:r>
          </a:p>
          <a:p>
            <a:pPr algn="ctr">
              <a:lnSpc>
                <a:spcPts val="1680"/>
              </a:lnSpc>
            </a:pPr>
          </a:p>
        </p:txBody>
      </p:sp>
      <p:sp>
        <p:nvSpPr>
          <p:cNvPr name="TextBox 94" id="94"/>
          <p:cNvSpPr txBox="true"/>
          <p:nvPr/>
        </p:nvSpPr>
        <p:spPr>
          <a:xfrm rot="0">
            <a:off x="106318" y="2744647"/>
            <a:ext cx="1776949" cy="638810"/>
          </a:xfrm>
          <a:prstGeom prst="rect">
            <a:avLst/>
          </a:prstGeom>
        </p:spPr>
        <p:txBody>
          <a:bodyPr anchor="t" rtlCol="false" tIns="0" lIns="0" bIns="0" rIns="0">
            <a:spAutoFit/>
          </a:bodyPr>
          <a:lstStyle/>
          <a:p>
            <a:pPr algn="ctr">
              <a:lnSpc>
                <a:spcPts val="3359"/>
              </a:lnSpc>
            </a:pPr>
            <a:r>
              <a:rPr lang="en-US" sz="2399" b="true">
                <a:solidFill>
                  <a:srgbClr val="FF0000"/>
                </a:solidFill>
                <a:latin typeface="Montserrat Bold"/>
                <a:ea typeface="Montserrat Bold"/>
                <a:cs typeface="Montserrat Bold"/>
                <a:sym typeface="Montserrat Bold"/>
              </a:rPr>
              <a:t>95%</a:t>
            </a:r>
          </a:p>
          <a:p>
            <a:pPr algn="ctr">
              <a:lnSpc>
                <a:spcPts val="1820"/>
              </a:lnSpc>
            </a:pPr>
            <a:r>
              <a:rPr lang="en-US" sz="1300">
                <a:solidFill>
                  <a:srgbClr val="FFFFFF"/>
                </a:solidFill>
                <a:latin typeface="Canva Sans"/>
                <a:ea typeface="Canva Sans"/>
                <a:cs typeface="Canva Sans"/>
                <a:sym typeface="Canva Sans"/>
              </a:rPr>
              <a:t>Fewer data issues</a:t>
            </a:r>
          </a:p>
        </p:txBody>
      </p:sp>
      <p:sp>
        <p:nvSpPr>
          <p:cNvPr name="TextBox 95" id="95"/>
          <p:cNvSpPr txBox="true"/>
          <p:nvPr/>
        </p:nvSpPr>
        <p:spPr>
          <a:xfrm rot="0">
            <a:off x="5010474" y="2722683"/>
            <a:ext cx="1855265" cy="674839"/>
          </a:xfrm>
          <a:prstGeom prst="rect">
            <a:avLst/>
          </a:prstGeom>
        </p:spPr>
        <p:txBody>
          <a:bodyPr anchor="t" rtlCol="false" tIns="0" lIns="0" bIns="0" rIns="0">
            <a:spAutoFit/>
          </a:bodyPr>
          <a:lstStyle/>
          <a:p>
            <a:pPr algn="ctr">
              <a:lnSpc>
                <a:spcPts val="3508"/>
              </a:lnSpc>
            </a:pPr>
            <a:r>
              <a:rPr lang="en-US" sz="2505" b="true">
                <a:solidFill>
                  <a:srgbClr val="FF0000"/>
                </a:solidFill>
                <a:latin typeface="Montserrat Bold"/>
                <a:ea typeface="Montserrat Bold"/>
                <a:cs typeface="Montserrat Bold"/>
                <a:sym typeface="Montserrat Bold"/>
              </a:rPr>
              <a:t>70%</a:t>
            </a:r>
          </a:p>
          <a:p>
            <a:pPr algn="ctr">
              <a:lnSpc>
                <a:spcPts val="1900"/>
              </a:lnSpc>
            </a:pPr>
            <a:r>
              <a:rPr lang="en-US" sz="1357">
                <a:solidFill>
                  <a:srgbClr val="FFFFFF"/>
                </a:solidFill>
                <a:latin typeface="Canva Sans"/>
                <a:ea typeface="Canva Sans"/>
                <a:cs typeface="Canva Sans"/>
                <a:sym typeface="Canva Sans"/>
              </a:rPr>
              <a:t>Cost reduction</a:t>
            </a:r>
          </a:p>
        </p:txBody>
      </p:sp>
      <p:sp>
        <p:nvSpPr>
          <p:cNvPr name="TextBox 96" id="96"/>
          <p:cNvSpPr txBox="true"/>
          <p:nvPr/>
        </p:nvSpPr>
        <p:spPr>
          <a:xfrm rot="0">
            <a:off x="1690469" y="3163842"/>
            <a:ext cx="1776949" cy="233679"/>
          </a:xfrm>
          <a:prstGeom prst="rect">
            <a:avLst/>
          </a:prstGeom>
        </p:spPr>
        <p:txBody>
          <a:bodyPr anchor="t" rtlCol="false" tIns="0" lIns="0" bIns="0" rIns="0">
            <a:spAutoFit/>
          </a:bodyPr>
          <a:lstStyle/>
          <a:p>
            <a:pPr algn="ctr">
              <a:lnSpc>
                <a:spcPts val="1820"/>
              </a:lnSpc>
            </a:pPr>
            <a:r>
              <a:rPr lang="en-US" sz="1300">
                <a:solidFill>
                  <a:srgbClr val="FFFFFF"/>
                </a:solidFill>
                <a:latin typeface="Canva Sans"/>
                <a:ea typeface="Canva Sans"/>
                <a:cs typeface="Canva Sans"/>
                <a:sym typeface="Canva Sans"/>
              </a:rPr>
              <a:t>Deploy in hours</a:t>
            </a:r>
          </a:p>
        </p:txBody>
      </p:sp>
      <p:sp>
        <p:nvSpPr>
          <p:cNvPr name="TextBox 97" id="97"/>
          <p:cNvSpPr txBox="true"/>
          <p:nvPr/>
        </p:nvSpPr>
        <p:spPr>
          <a:xfrm rot="0">
            <a:off x="3354150" y="3163842"/>
            <a:ext cx="1776949" cy="233679"/>
          </a:xfrm>
          <a:prstGeom prst="rect">
            <a:avLst/>
          </a:prstGeom>
        </p:spPr>
        <p:txBody>
          <a:bodyPr anchor="t" rtlCol="false" tIns="0" lIns="0" bIns="0" rIns="0">
            <a:spAutoFit/>
          </a:bodyPr>
          <a:lstStyle/>
          <a:p>
            <a:pPr algn="ctr">
              <a:lnSpc>
                <a:spcPts val="1820"/>
              </a:lnSpc>
            </a:pPr>
            <a:r>
              <a:rPr lang="en-US" sz="1300">
                <a:solidFill>
                  <a:srgbClr val="FFFFFF"/>
                </a:solidFill>
                <a:latin typeface="Canva Sans"/>
                <a:ea typeface="Canva Sans"/>
                <a:cs typeface="Canva Sans"/>
                <a:sym typeface="Canva Sans"/>
              </a:rPr>
              <a:t>Fully auditable</a:t>
            </a:r>
          </a:p>
        </p:txBody>
      </p:sp>
      <p:sp>
        <p:nvSpPr>
          <p:cNvPr name="TextBox 98" id="98"/>
          <p:cNvSpPr txBox="true"/>
          <p:nvPr/>
        </p:nvSpPr>
        <p:spPr>
          <a:xfrm rot="0">
            <a:off x="-56566" y="9652304"/>
            <a:ext cx="2017856" cy="181610"/>
          </a:xfrm>
          <a:prstGeom prst="rect">
            <a:avLst/>
          </a:prstGeom>
        </p:spPr>
        <p:txBody>
          <a:bodyPr anchor="t" rtlCol="false" tIns="0" lIns="0" bIns="0" rIns="0">
            <a:spAutoFit/>
          </a:bodyPr>
          <a:lstStyle/>
          <a:p>
            <a:pPr algn="ctr">
              <a:lnSpc>
                <a:spcPts val="1540"/>
              </a:lnSpc>
            </a:pPr>
            <a:r>
              <a:rPr lang="en-US" b="true" sz="1100">
                <a:solidFill>
                  <a:srgbClr val="FFFFFF"/>
                </a:solidFill>
                <a:latin typeface="Canva Sans Bold"/>
                <a:ea typeface="Canva Sans Bold"/>
                <a:cs typeface="Canva Sans Bold"/>
                <a:sym typeface="Canva Sans Bold"/>
              </a:rPr>
              <a:t>QBricks works with</a:t>
            </a:r>
          </a:p>
        </p:txBody>
      </p:sp>
      <p:sp>
        <p:nvSpPr>
          <p:cNvPr name="TextBox 99" id="99"/>
          <p:cNvSpPr txBox="true"/>
          <p:nvPr/>
        </p:nvSpPr>
        <p:spPr>
          <a:xfrm rot="0">
            <a:off x="1853696" y="1408157"/>
            <a:ext cx="116586" cy="105413"/>
          </a:xfrm>
          <a:prstGeom prst="rect">
            <a:avLst/>
          </a:prstGeom>
        </p:spPr>
        <p:txBody>
          <a:bodyPr anchor="t" rtlCol="false" tIns="0" lIns="0" bIns="0" rIns="0">
            <a:spAutoFit/>
          </a:bodyPr>
          <a:lstStyle/>
          <a:p>
            <a:pPr algn="ctr">
              <a:lnSpc>
                <a:spcPts val="840"/>
              </a:lnSpc>
            </a:pPr>
            <a:r>
              <a:rPr lang="en-US" sz="600">
                <a:solidFill>
                  <a:srgbClr val="FFFFFF"/>
                </a:solidFill>
                <a:latin typeface="Montserrat"/>
                <a:ea typeface="Montserrat"/>
                <a:cs typeface="Montserrat"/>
                <a:sym typeface="Montserrat"/>
              </a:rPr>
              <a:t>TM</a:t>
            </a:r>
          </a:p>
        </p:txBody>
      </p:sp>
      <p:sp>
        <p:nvSpPr>
          <p:cNvPr name="TextBox 100" id="100"/>
          <p:cNvSpPr txBox="true"/>
          <p:nvPr/>
        </p:nvSpPr>
        <p:spPr>
          <a:xfrm rot="0">
            <a:off x="5319315" y="10454264"/>
            <a:ext cx="2102265" cy="81495"/>
          </a:xfrm>
          <a:prstGeom prst="rect">
            <a:avLst/>
          </a:prstGeom>
        </p:spPr>
        <p:txBody>
          <a:bodyPr anchor="t" rtlCol="false" tIns="0" lIns="0" bIns="0" rIns="0">
            <a:spAutoFit/>
          </a:bodyPr>
          <a:lstStyle/>
          <a:p>
            <a:pPr algn="ctr">
              <a:lnSpc>
                <a:spcPts val="700"/>
              </a:lnSpc>
            </a:pPr>
            <a:r>
              <a:rPr lang="en-US" sz="500">
                <a:solidFill>
                  <a:srgbClr val="000000"/>
                </a:solidFill>
                <a:latin typeface="Canva Sans"/>
                <a:ea typeface="Canva Sans"/>
                <a:cs typeface="Canva Sans"/>
                <a:sym typeface="Canva Sans"/>
              </a:rPr>
              <a:t>QBricks is a trademark of Infinium Consulting B.V. (pending)</a:t>
            </a:r>
          </a:p>
        </p:txBody>
      </p:sp>
      <p:sp>
        <p:nvSpPr>
          <p:cNvPr name="TextBox 101" id="101"/>
          <p:cNvSpPr txBox="true"/>
          <p:nvPr/>
        </p:nvSpPr>
        <p:spPr>
          <a:xfrm rot="0">
            <a:off x="298899" y="8677381"/>
            <a:ext cx="3324643" cy="958894"/>
          </a:xfrm>
          <a:prstGeom prst="rect">
            <a:avLst/>
          </a:prstGeom>
        </p:spPr>
        <p:txBody>
          <a:bodyPr anchor="t" rtlCol="false" tIns="0" lIns="0" bIns="0" rIns="0">
            <a:spAutoFit/>
          </a:bodyPr>
          <a:lstStyle/>
          <a:p>
            <a:pPr algn="l">
              <a:lnSpc>
                <a:spcPts val="1299"/>
              </a:lnSpc>
            </a:pPr>
          </a:p>
          <a:p>
            <a:pPr algn="l">
              <a:lnSpc>
                <a:spcPts val="1078"/>
              </a:lnSpc>
              <a:spcBef>
                <a:spcPct val="0"/>
              </a:spcBef>
            </a:pPr>
            <a:r>
              <a:rPr lang="en-US" sz="770">
                <a:solidFill>
                  <a:srgbClr val="000000"/>
                </a:solidFill>
                <a:latin typeface="Canva Sans"/>
                <a:ea typeface="Canva Sans"/>
                <a:cs typeface="Canva Sans"/>
                <a:sym typeface="Canva Sans"/>
              </a:rPr>
              <a:t>The </a:t>
            </a:r>
            <a:r>
              <a:rPr lang="en-US" sz="770">
                <a:solidFill>
                  <a:srgbClr val="000000"/>
                </a:solidFill>
                <a:latin typeface="Canva Sans"/>
                <a:ea typeface="Canva Sans"/>
                <a:cs typeface="Canva Sans"/>
                <a:sym typeface="Canva Sans"/>
              </a:rPr>
              <a:t>ongoing process of managing metadata to ensure its accuracy, integrity, and usability throughout its lifecycle. This includes organising, cataloging, and governing metadata to improve data accessibility and compliance, which is crucial for modern data management practices. </a:t>
            </a:r>
          </a:p>
          <a:p>
            <a:pPr algn="l">
              <a:lnSpc>
                <a:spcPts val="1165"/>
              </a:lnSpc>
              <a:spcBef>
                <a:spcPct val="0"/>
              </a:spcBef>
            </a:pPr>
          </a:p>
        </p:txBody>
      </p:sp>
      <p:sp>
        <p:nvSpPr>
          <p:cNvPr name="TextBox 102" id="102"/>
          <p:cNvSpPr txBox="true"/>
          <p:nvPr/>
        </p:nvSpPr>
        <p:spPr>
          <a:xfrm rot="0">
            <a:off x="3356726" y="3990107"/>
            <a:ext cx="3163495" cy="148590"/>
          </a:xfrm>
          <a:prstGeom prst="rect">
            <a:avLst/>
          </a:prstGeom>
        </p:spPr>
        <p:txBody>
          <a:bodyPr anchor="t" rtlCol="false" tIns="0" lIns="0" bIns="0" rIns="0">
            <a:spAutoFit/>
          </a:bodyPr>
          <a:lstStyle/>
          <a:p>
            <a:pPr algn="ctr">
              <a:lnSpc>
                <a:spcPts val="1260"/>
              </a:lnSpc>
              <a:spcBef>
                <a:spcPct val="0"/>
              </a:spcBef>
            </a:pPr>
            <a:r>
              <a:rPr lang="en-US" b="true" sz="900">
                <a:solidFill>
                  <a:srgbClr val="000000"/>
                </a:solidFill>
                <a:latin typeface="Canva Sans Bold"/>
                <a:ea typeface="Canva Sans Bold"/>
                <a:cs typeface="Canva Sans Bold"/>
                <a:sym typeface="Canva Sans Bold"/>
              </a:rPr>
              <a:t>Seamless Integration</a:t>
            </a:r>
          </a:p>
        </p:txBody>
      </p:sp>
      <p:sp>
        <p:nvSpPr>
          <p:cNvPr name="TextBox 103" id="103"/>
          <p:cNvSpPr txBox="true"/>
          <p:nvPr/>
        </p:nvSpPr>
        <p:spPr>
          <a:xfrm rot="0">
            <a:off x="5332185" y="9834400"/>
            <a:ext cx="2102265" cy="174625"/>
          </a:xfrm>
          <a:prstGeom prst="rect">
            <a:avLst/>
          </a:prstGeom>
        </p:spPr>
        <p:txBody>
          <a:bodyPr anchor="t" rtlCol="false" tIns="0" lIns="0" bIns="0" rIns="0">
            <a:spAutoFit/>
          </a:bodyPr>
          <a:lstStyle/>
          <a:p>
            <a:pPr algn="ctr">
              <a:lnSpc>
                <a:spcPts val="1400"/>
              </a:lnSpc>
            </a:pPr>
            <a:r>
              <a:rPr lang="en-US" b="true" sz="1000">
                <a:solidFill>
                  <a:srgbClr val="000000"/>
                </a:solidFill>
                <a:latin typeface="Canva Sans Bold"/>
                <a:ea typeface="Canva Sans Bold"/>
                <a:cs typeface="Canva Sans Bold"/>
                <a:sym typeface="Canva Sans Bold"/>
              </a:rPr>
              <a:t>Want To Learn More?</a:t>
            </a:r>
          </a:p>
        </p:txBody>
      </p:sp>
      <p:sp>
        <p:nvSpPr>
          <p:cNvPr name="TextBox 104" id="104"/>
          <p:cNvSpPr txBox="true"/>
          <p:nvPr/>
        </p:nvSpPr>
        <p:spPr>
          <a:xfrm rot="0">
            <a:off x="3147823" y="7983467"/>
            <a:ext cx="3235495" cy="148589"/>
          </a:xfrm>
          <a:prstGeom prst="rect">
            <a:avLst/>
          </a:prstGeom>
        </p:spPr>
        <p:txBody>
          <a:bodyPr anchor="t" rtlCol="false" tIns="0" lIns="0" bIns="0" rIns="0">
            <a:spAutoFit/>
          </a:bodyPr>
          <a:lstStyle/>
          <a:p>
            <a:pPr algn="ctr">
              <a:lnSpc>
                <a:spcPts val="1260"/>
              </a:lnSpc>
              <a:spcBef>
                <a:spcPct val="0"/>
              </a:spcBef>
            </a:pPr>
            <a:r>
              <a:rPr lang="en-US" b="true" sz="900">
                <a:solidFill>
                  <a:srgbClr val="000000"/>
                </a:solidFill>
                <a:latin typeface="Canva Sans Bold"/>
                <a:ea typeface="Canva Sans Bold"/>
                <a:cs typeface="Canva Sans Bold"/>
                <a:sym typeface="Canva Sans Bold"/>
              </a:rPr>
              <a:t>Agentic Enabled</a:t>
            </a:r>
          </a:p>
        </p:txBody>
      </p:sp>
      <p:sp>
        <p:nvSpPr>
          <p:cNvPr name="TextBox 105" id="105"/>
          <p:cNvSpPr txBox="true"/>
          <p:nvPr/>
        </p:nvSpPr>
        <p:spPr>
          <a:xfrm rot="0">
            <a:off x="2346676" y="10180661"/>
            <a:ext cx="1153567" cy="224155"/>
          </a:xfrm>
          <a:prstGeom prst="rect">
            <a:avLst/>
          </a:prstGeom>
        </p:spPr>
        <p:txBody>
          <a:bodyPr anchor="t" rtlCol="false" tIns="0" lIns="0" bIns="0" rIns="0">
            <a:spAutoFit/>
          </a:bodyPr>
          <a:lstStyle/>
          <a:p>
            <a:pPr algn="ctr">
              <a:lnSpc>
                <a:spcPts val="1820"/>
              </a:lnSpc>
              <a:spcBef>
                <a:spcPct val="0"/>
              </a:spcBef>
            </a:pPr>
            <a:r>
              <a:rPr lang="en-US" sz="1300">
                <a:solidFill>
                  <a:srgbClr val="FFFFFF"/>
                </a:solidFill>
                <a:latin typeface="Aptos"/>
                <a:ea typeface="Aptos"/>
                <a:cs typeface="Aptos"/>
                <a:sym typeface="Aptos"/>
              </a:rPr>
              <a:t>Microsoft Fabric</a:t>
            </a:r>
          </a:p>
        </p:txBody>
      </p:sp>
      <p:sp>
        <p:nvSpPr>
          <p:cNvPr name="TextBox 106" id="106"/>
          <p:cNvSpPr txBox="true"/>
          <p:nvPr/>
        </p:nvSpPr>
        <p:spPr>
          <a:xfrm rot="0">
            <a:off x="2943332" y="3597991"/>
            <a:ext cx="3235495" cy="198120"/>
          </a:xfrm>
          <a:prstGeom prst="rect">
            <a:avLst/>
          </a:prstGeom>
        </p:spPr>
        <p:txBody>
          <a:bodyPr anchor="t" rtlCol="false" tIns="0" lIns="0" bIns="0" rIns="0">
            <a:spAutoFit/>
          </a:bodyPr>
          <a:lstStyle/>
          <a:p>
            <a:pPr algn="ctr">
              <a:lnSpc>
                <a:spcPts val="1680"/>
              </a:lnSpc>
              <a:spcBef>
                <a:spcPct val="0"/>
              </a:spcBef>
            </a:pPr>
            <a:r>
              <a:rPr lang="en-US" b="true" sz="1200">
                <a:solidFill>
                  <a:srgbClr val="000000"/>
                </a:solidFill>
                <a:latin typeface="Canva Sans Bold"/>
                <a:ea typeface="Canva Sans Bold"/>
                <a:cs typeface="Canva Sans Bold"/>
                <a:sym typeface="Canva Sans Bold"/>
              </a:rPr>
              <a:t>Key QBricks Features</a:t>
            </a:r>
          </a:p>
        </p:txBody>
      </p:sp>
      <p:sp>
        <p:nvSpPr>
          <p:cNvPr name="TextBox 107" id="107"/>
          <p:cNvSpPr txBox="true"/>
          <p:nvPr/>
        </p:nvSpPr>
        <p:spPr>
          <a:xfrm rot="0">
            <a:off x="3786349" y="3801321"/>
            <a:ext cx="3345746" cy="119806"/>
          </a:xfrm>
          <a:prstGeom prst="rect">
            <a:avLst/>
          </a:prstGeom>
        </p:spPr>
        <p:txBody>
          <a:bodyPr anchor="t" rtlCol="false" tIns="0" lIns="0" bIns="0" rIns="0">
            <a:spAutoFit/>
          </a:bodyPr>
          <a:lstStyle/>
          <a:p>
            <a:pPr algn="ctr">
              <a:lnSpc>
                <a:spcPts val="980"/>
              </a:lnSpc>
              <a:spcBef>
                <a:spcPct val="0"/>
              </a:spcBef>
            </a:pPr>
            <a:r>
              <a:rPr lang="en-US" sz="700">
                <a:solidFill>
                  <a:srgbClr val="000000"/>
                </a:solidFill>
                <a:latin typeface="Montserrat"/>
                <a:ea typeface="Montserrat"/>
                <a:cs typeface="Montserrat"/>
                <a:sym typeface="Montserrat"/>
              </a:rPr>
              <a:t>Introducing QBricks: Your Comprehensive Metadata Management Solution</a:t>
            </a:r>
          </a:p>
        </p:txBody>
      </p:sp>
      <p:sp>
        <p:nvSpPr>
          <p:cNvPr name="TextBox 108" id="108"/>
          <p:cNvSpPr txBox="true"/>
          <p:nvPr/>
        </p:nvSpPr>
        <p:spPr>
          <a:xfrm rot="0">
            <a:off x="4345649" y="4138697"/>
            <a:ext cx="2834012" cy="228812"/>
          </a:xfrm>
          <a:prstGeom prst="rect">
            <a:avLst/>
          </a:prstGeom>
        </p:spPr>
        <p:txBody>
          <a:bodyPr anchor="t" rtlCol="false" tIns="0" lIns="0" bIns="0" rIns="0">
            <a:spAutoFit/>
          </a:bodyPr>
          <a:lstStyle/>
          <a:p>
            <a:pPr algn="just">
              <a:lnSpc>
                <a:spcPts val="979"/>
              </a:lnSpc>
              <a:spcBef>
                <a:spcPct val="0"/>
              </a:spcBef>
            </a:pPr>
            <a:r>
              <a:rPr lang="en-US" sz="699">
                <a:solidFill>
                  <a:srgbClr val="000000"/>
                </a:solidFill>
                <a:latin typeface="Canva Sans"/>
                <a:ea typeface="Canva Sans"/>
                <a:cs typeface="Canva Sans"/>
                <a:sym typeface="Canva Sans"/>
              </a:rPr>
              <a:t>QBricks incorporates robust ETL and Data Quality frameworks, ensuring that every workload adheres to the highest standards.</a:t>
            </a:r>
          </a:p>
        </p:txBody>
      </p:sp>
      <p:sp>
        <p:nvSpPr>
          <p:cNvPr name="TextBox 109" id="109"/>
          <p:cNvSpPr txBox="true"/>
          <p:nvPr/>
        </p:nvSpPr>
        <p:spPr>
          <a:xfrm rot="0">
            <a:off x="4385972" y="4697132"/>
            <a:ext cx="3053271" cy="347345"/>
          </a:xfrm>
          <a:prstGeom prst="rect">
            <a:avLst/>
          </a:prstGeom>
        </p:spPr>
        <p:txBody>
          <a:bodyPr anchor="t" rtlCol="false" tIns="0" lIns="0" bIns="0" rIns="0">
            <a:spAutoFit/>
          </a:bodyPr>
          <a:lstStyle/>
          <a:p>
            <a:pPr algn="l">
              <a:lnSpc>
                <a:spcPts val="979"/>
              </a:lnSpc>
              <a:spcBef>
                <a:spcPct val="0"/>
              </a:spcBef>
            </a:pPr>
            <a:r>
              <a:rPr lang="en-US" sz="699">
                <a:solidFill>
                  <a:srgbClr val="000000"/>
                </a:solidFill>
                <a:latin typeface="Canva Sans"/>
                <a:ea typeface="Canva Sans"/>
                <a:cs typeface="Canva Sans"/>
                <a:sym typeface="Canva Sans"/>
              </a:rPr>
              <a:t>QBricks simplifies the management of your Databricks infrastructure through Data Contracts and Data Products, including the configuration of necessary compute resources. Contracts can be easily browsed.</a:t>
            </a:r>
          </a:p>
        </p:txBody>
      </p:sp>
      <p:sp>
        <p:nvSpPr>
          <p:cNvPr name="TextBox 110" id="110"/>
          <p:cNvSpPr txBox="true"/>
          <p:nvPr/>
        </p:nvSpPr>
        <p:spPr>
          <a:xfrm rot="0">
            <a:off x="3428726" y="4529493"/>
            <a:ext cx="3163495" cy="148590"/>
          </a:xfrm>
          <a:prstGeom prst="rect">
            <a:avLst/>
          </a:prstGeom>
        </p:spPr>
        <p:txBody>
          <a:bodyPr anchor="t" rtlCol="false" tIns="0" lIns="0" bIns="0" rIns="0">
            <a:spAutoFit/>
          </a:bodyPr>
          <a:lstStyle/>
          <a:p>
            <a:pPr algn="ctr">
              <a:lnSpc>
                <a:spcPts val="1260"/>
              </a:lnSpc>
              <a:spcBef>
                <a:spcPct val="0"/>
              </a:spcBef>
            </a:pPr>
            <a:r>
              <a:rPr lang="en-US" b="true" sz="900">
                <a:solidFill>
                  <a:srgbClr val="000000"/>
                </a:solidFill>
                <a:latin typeface="Canva Sans Bold"/>
                <a:ea typeface="Canva Sans Bold"/>
                <a:cs typeface="Canva Sans Bold"/>
                <a:sym typeface="Canva Sans Bold"/>
              </a:rPr>
              <a:t>User Friendly Interface</a:t>
            </a:r>
          </a:p>
        </p:txBody>
      </p:sp>
      <p:sp>
        <p:nvSpPr>
          <p:cNvPr name="TextBox 111" id="111"/>
          <p:cNvSpPr txBox="true"/>
          <p:nvPr/>
        </p:nvSpPr>
        <p:spPr>
          <a:xfrm rot="0">
            <a:off x="4385972" y="5373267"/>
            <a:ext cx="3083355" cy="347345"/>
          </a:xfrm>
          <a:prstGeom prst="rect">
            <a:avLst/>
          </a:prstGeom>
        </p:spPr>
        <p:txBody>
          <a:bodyPr anchor="t" rtlCol="false" tIns="0" lIns="0" bIns="0" rIns="0">
            <a:spAutoFit/>
          </a:bodyPr>
          <a:lstStyle/>
          <a:p>
            <a:pPr algn="l">
              <a:lnSpc>
                <a:spcPts val="979"/>
              </a:lnSpc>
              <a:spcBef>
                <a:spcPct val="0"/>
              </a:spcBef>
            </a:pPr>
            <a:r>
              <a:rPr lang="en-US" sz="699">
                <a:solidFill>
                  <a:srgbClr val="000000"/>
                </a:solidFill>
                <a:latin typeface="Canva Sans"/>
                <a:ea typeface="Canva Sans"/>
                <a:cs typeface="Canva Sans"/>
                <a:sym typeface="Canva Sans"/>
              </a:rPr>
              <a:t>Utilise QBricks through our intuitive app interface or deploy it using Databricks' native tools. Whether it's ETL, Data Quality, Data Contracts, or Data Products, QBricks provides comprehensive support.</a:t>
            </a:r>
          </a:p>
        </p:txBody>
      </p:sp>
      <p:sp>
        <p:nvSpPr>
          <p:cNvPr name="TextBox 112" id="112"/>
          <p:cNvSpPr txBox="true"/>
          <p:nvPr/>
        </p:nvSpPr>
        <p:spPr>
          <a:xfrm rot="0">
            <a:off x="3968872" y="5846273"/>
            <a:ext cx="3199495" cy="148590"/>
          </a:xfrm>
          <a:prstGeom prst="rect">
            <a:avLst/>
          </a:prstGeom>
        </p:spPr>
        <p:txBody>
          <a:bodyPr anchor="t" rtlCol="false" tIns="0" lIns="0" bIns="0" rIns="0">
            <a:spAutoFit/>
          </a:bodyPr>
          <a:lstStyle/>
          <a:p>
            <a:pPr algn="ctr">
              <a:lnSpc>
                <a:spcPts val="1260"/>
              </a:lnSpc>
              <a:spcBef>
                <a:spcPct val="0"/>
              </a:spcBef>
            </a:pPr>
            <a:r>
              <a:rPr lang="en-US" b="true" sz="900">
                <a:solidFill>
                  <a:srgbClr val="000000"/>
                </a:solidFill>
                <a:latin typeface="Canva Sans Bold"/>
                <a:ea typeface="Canva Sans Bold"/>
                <a:cs typeface="Canva Sans Bold"/>
                <a:sym typeface="Canva Sans Bold"/>
              </a:rPr>
              <a:t>Efficient File Management. Fast Deployment</a:t>
            </a:r>
          </a:p>
        </p:txBody>
      </p:sp>
      <p:sp>
        <p:nvSpPr>
          <p:cNvPr name="TextBox 113" id="113"/>
          <p:cNvSpPr txBox="true"/>
          <p:nvPr/>
        </p:nvSpPr>
        <p:spPr>
          <a:xfrm rot="0">
            <a:off x="4341540" y="6004388"/>
            <a:ext cx="3077124" cy="465878"/>
          </a:xfrm>
          <a:prstGeom prst="rect">
            <a:avLst/>
          </a:prstGeom>
        </p:spPr>
        <p:txBody>
          <a:bodyPr anchor="t" rtlCol="false" tIns="0" lIns="0" bIns="0" rIns="0">
            <a:spAutoFit/>
          </a:bodyPr>
          <a:lstStyle/>
          <a:p>
            <a:pPr algn="l">
              <a:lnSpc>
                <a:spcPts val="979"/>
              </a:lnSpc>
              <a:spcBef>
                <a:spcPct val="0"/>
              </a:spcBef>
            </a:pPr>
            <a:r>
              <a:rPr lang="en-US" sz="699">
                <a:solidFill>
                  <a:srgbClr val="000000"/>
                </a:solidFill>
                <a:latin typeface="Canva Sans"/>
                <a:ea typeface="Canva Sans"/>
                <a:cs typeface="Canva Sans"/>
                <a:sym typeface="Canva Sans"/>
              </a:rPr>
              <a:t>Eliminate the complexities of managing multiple files that become increasingly difficult to handle as they grow exponentially. QBricks requires only a single file to deploy everything, including infrastructure and workloads, enhancing efficiency and reducing errors. </a:t>
            </a:r>
          </a:p>
        </p:txBody>
      </p:sp>
      <p:sp>
        <p:nvSpPr>
          <p:cNvPr name="TextBox 114" id="114"/>
          <p:cNvSpPr txBox="true"/>
          <p:nvPr/>
        </p:nvSpPr>
        <p:spPr>
          <a:xfrm rot="0">
            <a:off x="4320073" y="6694138"/>
            <a:ext cx="3050006" cy="584411"/>
          </a:xfrm>
          <a:prstGeom prst="rect">
            <a:avLst/>
          </a:prstGeom>
        </p:spPr>
        <p:txBody>
          <a:bodyPr anchor="t" rtlCol="false" tIns="0" lIns="0" bIns="0" rIns="0">
            <a:spAutoFit/>
          </a:bodyPr>
          <a:lstStyle/>
          <a:p>
            <a:pPr algn="l">
              <a:lnSpc>
                <a:spcPts val="979"/>
              </a:lnSpc>
              <a:spcBef>
                <a:spcPct val="0"/>
              </a:spcBef>
            </a:pPr>
            <a:r>
              <a:rPr lang="en-US" sz="699">
                <a:solidFill>
                  <a:srgbClr val="000000"/>
                </a:solidFill>
                <a:latin typeface="Canva Sans"/>
                <a:ea typeface="Canva Sans"/>
                <a:cs typeface="Canva Sans"/>
                <a:sym typeface="Canva Sans"/>
              </a:rPr>
              <a:t>QBricks leverages ontologies and knowledge graphs to provide a structured and interconnected view of your data, facilitating better data discovery, improved data quality, and informed decision-making.</a:t>
            </a:r>
          </a:p>
          <a:p>
            <a:pPr algn="l">
              <a:lnSpc>
                <a:spcPts val="979"/>
              </a:lnSpc>
              <a:spcBef>
                <a:spcPct val="0"/>
              </a:spcBef>
            </a:pPr>
            <a:r>
              <a:rPr lang="en-US" sz="699">
                <a:solidFill>
                  <a:srgbClr val="000000"/>
                </a:solidFill>
                <a:latin typeface="Canva Sans"/>
                <a:ea typeface="Canva Sans"/>
                <a:cs typeface="Canva Sans"/>
                <a:sym typeface="Canva Sans"/>
              </a:rPr>
              <a:t>Provides a structured, replayable history of how context turned into action.</a:t>
            </a:r>
          </a:p>
        </p:txBody>
      </p:sp>
      <p:sp>
        <p:nvSpPr>
          <p:cNvPr name="TextBox 115" id="115"/>
          <p:cNvSpPr txBox="true"/>
          <p:nvPr/>
        </p:nvSpPr>
        <p:spPr>
          <a:xfrm rot="0">
            <a:off x="4320073" y="6536023"/>
            <a:ext cx="1705868" cy="148590"/>
          </a:xfrm>
          <a:prstGeom prst="rect">
            <a:avLst/>
          </a:prstGeom>
        </p:spPr>
        <p:txBody>
          <a:bodyPr anchor="t" rtlCol="false" tIns="0" lIns="0" bIns="0" rIns="0">
            <a:spAutoFit/>
          </a:bodyPr>
          <a:lstStyle/>
          <a:p>
            <a:pPr algn="ctr">
              <a:lnSpc>
                <a:spcPts val="1260"/>
              </a:lnSpc>
              <a:spcBef>
                <a:spcPct val="0"/>
              </a:spcBef>
            </a:pPr>
            <a:r>
              <a:rPr lang="en-US" b="true" sz="900">
                <a:solidFill>
                  <a:srgbClr val="000000"/>
                </a:solidFill>
                <a:latin typeface="Canva Sans Bold"/>
                <a:ea typeface="Canva Sans Bold"/>
                <a:cs typeface="Canva Sans Bold"/>
                <a:sym typeface="Canva Sans Bold"/>
              </a:rPr>
              <a:t>Enhanced Data Understanding</a:t>
            </a:r>
          </a:p>
        </p:txBody>
      </p:sp>
      <p:sp>
        <p:nvSpPr>
          <p:cNvPr name="TextBox 116" id="116"/>
          <p:cNvSpPr txBox="true"/>
          <p:nvPr/>
        </p:nvSpPr>
        <p:spPr>
          <a:xfrm rot="0">
            <a:off x="4317617" y="7246588"/>
            <a:ext cx="3089140" cy="584413"/>
          </a:xfrm>
          <a:prstGeom prst="rect">
            <a:avLst/>
          </a:prstGeom>
        </p:spPr>
        <p:txBody>
          <a:bodyPr anchor="t" rtlCol="false" tIns="0" lIns="0" bIns="0" rIns="0">
            <a:spAutoFit/>
          </a:bodyPr>
          <a:lstStyle/>
          <a:p>
            <a:pPr algn="l">
              <a:lnSpc>
                <a:spcPts val="980"/>
              </a:lnSpc>
              <a:spcBef>
                <a:spcPct val="0"/>
              </a:spcBef>
            </a:pPr>
          </a:p>
          <a:p>
            <a:pPr algn="l">
              <a:lnSpc>
                <a:spcPts val="980"/>
              </a:lnSpc>
              <a:spcBef>
                <a:spcPct val="0"/>
              </a:spcBef>
            </a:pPr>
          </a:p>
          <a:p>
            <a:pPr algn="l">
              <a:lnSpc>
                <a:spcPts val="980"/>
              </a:lnSpc>
              <a:spcBef>
                <a:spcPct val="0"/>
              </a:spcBef>
            </a:pPr>
            <a:r>
              <a:rPr lang="en-US" sz="700">
                <a:solidFill>
                  <a:srgbClr val="000000"/>
                </a:solidFill>
                <a:latin typeface="Canva Sans"/>
                <a:ea typeface="Canva Sans"/>
                <a:cs typeface="Canva Sans"/>
                <a:sym typeface="Canva Sans"/>
              </a:rPr>
              <a:t>Achieve knowledge alignment between decision-makers and field teams with QBricks. All processes are auditable via contracts, ensuring transparency and consistency across the organisation.</a:t>
            </a:r>
          </a:p>
        </p:txBody>
      </p:sp>
      <p:sp>
        <p:nvSpPr>
          <p:cNvPr name="TextBox 117" id="117"/>
          <p:cNvSpPr txBox="true"/>
          <p:nvPr/>
        </p:nvSpPr>
        <p:spPr>
          <a:xfrm rot="0">
            <a:off x="4305844" y="7334040"/>
            <a:ext cx="3081262" cy="148590"/>
          </a:xfrm>
          <a:prstGeom prst="rect">
            <a:avLst/>
          </a:prstGeom>
        </p:spPr>
        <p:txBody>
          <a:bodyPr anchor="t" rtlCol="false" tIns="0" lIns="0" bIns="0" rIns="0">
            <a:spAutoFit/>
          </a:bodyPr>
          <a:lstStyle/>
          <a:p>
            <a:pPr algn="ctr">
              <a:lnSpc>
                <a:spcPts val="1260"/>
              </a:lnSpc>
              <a:spcBef>
                <a:spcPct val="0"/>
              </a:spcBef>
            </a:pPr>
            <a:r>
              <a:rPr lang="en-US" b="true" sz="900">
                <a:solidFill>
                  <a:srgbClr val="000000"/>
                </a:solidFill>
                <a:latin typeface="Canva Sans Bold"/>
                <a:ea typeface="Canva Sans Bold"/>
                <a:cs typeface="Canva Sans Bold"/>
                <a:sym typeface="Canva Sans Bold"/>
              </a:rPr>
              <a:t>Breakdown Business Silos. Remove Misunderstandings</a:t>
            </a:r>
          </a:p>
        </p:txBody>
      </p:sp>
      <p:sp>
        <p:nvSpPr>
          <p:cNvPr name="TextBox 118" id="118"/>
          <p:cNvSpPr txBox="true"/>
          <p:nvPr/>
        </p:nvSpPr>
        <p:spPr>
          <a:xfrm rot="0">
            <a:off x="281016" y="7609866"/>
            <a:ext cx="3407961" cy="860425"/>
          </a:xfrm>
          <a:prstGeom prst="rect">
            <a:avLst/>
          </a:prstGeom>
        </p:spPr>
        <p:txBody>
          <a:bodyPr anchor="t" rtlCol="false" tIns="0" lIns="0" bIns="0" rIns="0">
            <a:spAutoFit/>
          </a:bodyPr>
          <a:lstStyle/>
          <a:p>
            <a:pPr algn="ctr">
              <a:lnSpc>
                <a:spcPts val="1400"/>
              </a:lnSpc>
              <a:spcBef>
                <a:spcPct val="0"/>
              </a:spcBef>
            </a:pPr>
            <a:r>
              <a:rPr lang="en-US" sz="1000">
                <a:solidFill>
                  <a:srgbClr val="FDFDFD"/>
                </a:solidFill>
                <a:latin typeface="Canva Sans"/>
                <a:ea typeface="Canva Sans"/>
                <a:cs typeface="Canva Sans"/>
                <a:sym typeface="Canva Sans"/>
              </a:rPr>
              <a:t>‘’</a:t>
            </a:r>
            <a:r>
              <a:rPr lang="en-US" sz="1000">
                <a:solidFill>
                  <a:srgbClr val="FDFDFD"/>
                </a:solidFill>
                <a:latin typeface="Canva Sans"/>
                <a:ea typeface="Canva Sans"/>
                <a:cs typeface="Canva Sans"/>
                <a:sym typeface="Canva Sans"/>
              </a:rPr>
              <a:t>Revolutionise your Databricks and Microsoft Fabric workload deployments with QBricks.</a:t>
            </a:r>
          </a:p>
          <a:p>
            <a:pPr algn="ctr">
              <a:lnSpc>
                <a:spcPts val="1400"/>
              </a:lnSpc>
              <a:spcBef>
                <a:spcPct val="0"/>
              </a:spcBef>
            </a:pPr>
            <a:r>
              <a:rPr lang="en-US" sz="1000">
                <a:solidFill>
                  <a:srgbClr val="FDFDFD"/>
                </a:solidFill>
                <a:latin typeface="Canva Sans"/>
                <a:ea typeface="Canva Sans"/>
                <a:cs typeface="Canva Sans"/>
                <a:sym typeface="Canva Sans"/>
              </a:rPr>
              <a:t>The sophisticated, governed and secure metadata management tool designed for optimal efficiency and ease of use’’</a:t>
            </a:r>
          </a:p>
        </p:txBody>
      </p:sp>
      <p:sp>
        <p:nvSpPr>
          <p:cNvPr name="TextBox 119" id="119"/>
          <p:cNvSpPr txBox="true"/>
          <p:nvPr/>
        </p:nvSpPr>
        <p:spPr>
          <a:xfrm rot="0">
            <a:off x="298899" y="8677381"/>
            <a:ext cx="2816126" cy="148590"/>
          </a:xfrm>
          <a:prstGeom prst="rect">
            <a:avLst/>
          </a:prstGeom>
        </p:spPr>
        <p:txBody>
          <a:bodyPr anchor="t" rtlCol="false" tIns="0" lIns="0" bIns="0" rIns="0">
            <a:spAutoFit/>
          </a:bodyPr>
          <a:lstStyle/>
          <a:p>
            <a:pPr algn="ctr">
              <a:lnSpc>
                <a:spcPts val="1260"/>
              </a:lnSpc>
              <a:spcBef>
                <a:spcPct val="0"/>
              </a:spcBef>
            </a:pPr>
            <a:r>
              <a:rPr lang="en-US" b="true" sz="900">
                <a:solidFill>
                  <a:srgbClr val="000000"/>
                </a:solidFill>
                <a:latin typeface="Canva Sans Bold"/>
                <a:ea typeface="Canva Sans Bold"/>
                <a:cs typeface="Canva Sans Bold"/>
                <a:sym typeface="Canva Sans Bold"/>
              </a:rPr>
              <a:t>QBricks enables Perpetual Metadata Management </a:t>
            </a:r>
          </a:p>
        </p:txBody>
      </p:sp>
      <p:sp>
        <p:nvSpPr>
          <p:cNvPr name="TextBox 120" id="120"/>
          <p:cNvSpPr txBox="true"/>
          <p:nvPr/>
        </p:nvSpPr>
        <p:spPr>
          <a:xfrm rot="0">
            <a:off x="6426547" y="9033988"/>
            <a:ext cx="1053852" cy="396240"/>
          </a:xfrm>
          <a:prstGeom prst="rect">
            <a:avLst/>
          </a:prstGeom>
        </p:spPr>
        <p:txBody>
          <a:bodyPr anchor="t" rtlCol="false" tIns="0" lIns="0" bIns="0" rIns="0">
            <a:spAutoFit/>
          </a:bodyPr>
          <a:lstStyle/>
          <a:p>
            <a:pPr algn="ctr">
              <a:lnSpc>
                <a:spcPts val="3359"/>
              </a:lnSpc>
            </a:pPr>
            <a:r>
              <a:rPr lang="en-US" b="true" sz="2399">
                <a:solidFill>
                  <a:srgbClr val="000000"/>
                </a:solidFill>
                <a:latin typeface="Montserrat Bold"/>
                <a:ea typeface="Montserrat Bold"/>
                <a:cs typeface="Montserrat Bold"/>
                <a:sym typeface="Montserrat Bold"/>
              </a:rPr>
              <a:t>99%</a:t>
            </a:r>
          </a:p>
        </p:txBody>
      </p:sp>
      <p:sp>
        <p:nvSpPr>
          <p:cNvPr name="TextBox 121" id="121"/>
          <p:cNvSpPr txBox="true"/>
          <p:nvPr/>
        </p:nvSpPr>
        <p:spPr>
          <a:xfrm rot="0">
            <a:off x="6465443" y="9432037"/>
            <a:ext cx="885662" cy="119806"/>
          </a:xfrm>
          <a:prstGeom prst="rect">
            <a:avLst/>
          </a:prstGeom>
        </p:spPr>
        <p:txBody>
          <a:bodyPr anchor="t" rtlCol="false" tIns="0" lIns="0" bIns="0" rIns="0">
            <a:spAutoFit/>
          </a:bodyPr>
          <a:lstStyle/>
          <a:p>
            <a:pPr algn="ctr">
              <a:lnSpc>
                <a:spcPts val="980"/>
              </a:lnSpc>
              <a:spcBef>
                <a:spcPct val="0"/>
              </a:spcBef>
            </a:pPr>
            <a:r>
              <a:rPr lang="en-US" b="true" sz="700">
                <a:solidFill>
                  <a:srgbClr val="000000"/>
                </a:solidFill>
                <a:latin typeface="Montserrat Bold"/>
                <a:ea typeface="Montserrat Bold"/>
                <a:cs typeface="Montserrat Bold"/>
                <a:sym typeface="Montserrat Bold"/>
              </a:rPr>
              <a:t>Matching accuracy</a:t>
            </a:r>
          </a:p>
        </p:txBody>
      </p:sp>
      <p:sp>
        <p:nvSpPr>
          <p:cNvPr name="TextBox 122" id="122"/>
          <p:cNvSpPr txBox="true"/>
          <p:nvPr/>
        </p:nvSpPr>
        <p:spPr>
          <a:xfrm rot="0">
            <a:off x="6142826" y="3116367"/>
            <a:ext cx="1812949" cy="465880"/>
          </a:xfrm>
          <a:prstGeom prst="rect">
            <a:avLst/>
          </a:prstGeom>
        </p:spPr>
        <p:txBody>
          <a:bodyPr anchor="t" rtlCol="false" tIns="0" lIns="0" bIns="0" rIns="0">
            <a:spAutoFit/>
          </a:bodyPr>
          <a:lstStyle/>
          <a:p>
            <a:pPr algn="ctr">
              <a:lnSpc>
                <a:spcPts val="980"/>
              </a:lnSpc>
            </a:pPr>
            <a:r>
              <a:rPr lang="en-US" sz="700">
                <a:solidFill>
                  <a:srgbClr val="000000"/>
                </a:solidFill>
                <a:latin typeface="Canva Sans"/>
                <a:ea typeface="Canva Sans"/>
                <a:cs typeface="Canva Sans"/>
                <a:sym typeface="Canva Sans"/>
              </a:rPr>
              <a:t>Databricks &amp; </a:t>
            </a:r>
          </a:p>
          <a:p>
            <a:pPr algn="ctr">
              <a:lnSpc>
                <a:spcPts val="980"/>
              </a:lnSpc>
            </a:pPr>
            <a:r>
              <a:rPr lang="en-US" sz="700">
                <a:solidFill>
                  <a:srgbClr val="000000"/>
                </a:solidFill>
                <a:latin typeface="Canva Sans"/>
                <a:ea typeface="Canva Sans"/>
                <a:cs typeface="Canva Sans"/>
                <a:sym typeface="Canva Sans"/>
              </a:rPr>
              <a:t>Microsoft level</a:t>
            </a:r>
          </a:p>
          <a:p>
            <a:pPr algn="ctr">
              <a:lnSpc>
                <a:spcPts val="980"/>
              </a:lnSpc>
            </a:pPr>
            <a:r>
              <a:rPr lang="en-US" sz="700">
                <a:solidFill>
                  <a:srgbClr val="000000"/>
                </a:solidFill>
                <a:latin typeface="Canva Sans"/>
                <a:ea typeface="Canva Sans"/>
                <a:cs typeface="Canva Sans"/>
                <a:sym typeface="Canva Sans"/>
              </a:rPr>
              <a:t>security</a:t>
            </a:r>
          </a:p>
          <a:p>
            <a:pPr algn="ctr">
              <a:lnSpc>
                <a:spcPts val="980"/>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DAG9SIxJ-to</dc:identifier>
  <dcterms:modified xsi:type="dcterms:W3CDTF">2011-08-01T06:04:30Z</dcterms:modified>
  <cp:revision>1</cp:revision>
  <dc:title>INTRODUCING</dc:title>
</cp:coreProperties>
</file>